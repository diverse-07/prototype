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1695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11.png"/><Relationship Id="rId9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3.png"/><Relationship Id="rId6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3200" b="1">
                <a:solidFill>
                  <a:srgbClr val="1E293B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sz="3600" b="1">
                <a:solidFill>
                  <a:srgbClr val="1F497D"/>
                </a:solidFill>
                <a:latin typeface="Garamond"/>
              </a:defRPr>
            </a:pPr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6217920" cy="411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"/>
            </a:pPr>
            <a:endParaRPr lang="en-US" dirty="0"/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E293B"/>
                </a:solidFill>
                <a:latin typeface="Arial"/>
              </a:rPr>
              <a:t>Problem Statement ID – </a:t>
            </a:r>
            <a:r>
              <a:rPr sz="1700" b="1">
                <a:solidFill>
                  <a:srgbClr val="1F497D"/>
                </a:solidFill>
                <a:latin typeface="Arial"/>
              </a:rPr>
              <a:t>SIH26001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E293B"/>
                </a:solidFill>
                <a:latin typeface="Arial"/>
              </a:rPr>
              <a:t>Problem Statement Title- </a:t>
            </a:r>
            <a:r>
              <a:rPr sz="1700" b="1">
                <a:solidFill>
                  <a:srgbClr val="1F497D"/>
                </a:solidFill>
                <a:latin typeface="Arial"/>
              </a:rPr>
              <a:t>AI-Driven Early Warning &amp; Landslide Risk Monitoring System in NER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E293B"/>
                </a:solidFill>
                <a:latin typeface="Arial"/>
              </a:rPr>
              <a:t>Theme- </a:t>
            </a:r>
            <a:r>
              <a:rPr sz="1700" b="1">
                <a:solidFill>
                  <a:srgbClr val="1F497D"/>
                </a:solidFill>
                <a:latin typeface="Arial"/>
              </a:rPr>
              <a:t>Disaster Management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E293B"/>
                </a:solidFill>
                <a:latin typeface="Arial"/>
              </a:rPr>
              <a:t>PS Category- Software/Hardware- </a:t>
            </a:r>
            <a:r>
              <a:rPr sz="1700" b="1">
                <a:solidFill>
                  <a:srgbClr val="2563EB"/>
                </a:solidFill>
                <a:latin typeface="Arial"/>
              </a:rPr>
              <a:t>Software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E293B"/>
                </a:solidFill>
                <a:latin typeface="Arial"/>
              </a:rPr>
              <a:t>Team ID- </a:t>
            </a:r>
            <a:r>
              <a:rPr sz="1700" b="1">
                <a:solidFill>
                  <a:srgbClr val="1F497D"/>
                </a:solidFill>
                <a:latin typeface="Arial"/>
              </a:rPr>
              <a:t>SIH26001</a:t>
            </a:r>
          </a:p>
          <a:p>
            <a:pPr marL="285750" indent="-285750" algn="l">
              <a:lnSpc>
                <a:spcPct val="12500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1E293B"/>
                </a:solidFill>
                <a:latin typeface="Arial"/>
              </a:rPr>
              <a:t>Team Name (Registered on portal)- </a:t>
            </a:r>
            <a:r>
              <a:rPr sz="1700" b="1">
                <a:solidFill>
                  <a:srgbClr val="2563EB"/>
                </a:solidFill>
                <a:latin typeface="Arial"/>
              </a:rPr>
              <a:t>AEGIS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Picture 37" descr="sih_official_logo_2026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164592"/>
            <a:ext cx="1709033" cy="8686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11480" y="62636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rial"/>
              </a:defRPr>
            </a:pPr>
            <a:r>
              <a:t>Lloyd Institute of Engineering &amp; Technology,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880"/>
            <a:ext cx="132588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50">
                <a:solidFill>
                  <a:srgbClr val="4F46E5"/>
                </a:solidFill>
                <a:latin typeface="Arial"/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PROPOSED SOLUTION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91440"/>
            <a:ext cx="1709033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804672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Arial"/>
              </a:defRPr>
            </a:pPr>
            <a:r>
              <a:t>❖ Ground Reality: Northeast Crisis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52144"/>
            <a:ext cx="4297680" cy="2468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1225296"/>
            <a:ext cx="4151376" cy="2322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694176"/>
            <a:ext cx="4297680" cy="438912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B91C1C"/>
                </a:solidFill>
                <a:latin typeface="Arial"/>
              </a:defRPr>
            </a:pPr>
            <a:r>
              <a:t>NH-44 Cutoff: Monsoonal Debris Strands Mountain Lifelines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224528"/>
            <a:ext cx="4297680" cy="713232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70248"/>
            <a:ext cx="1645920" cy="6217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Arial"/>
              </a:defRPr>
            </a:pPr>
            <a:r>
              <a:t>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4297680"/>
            <a:ext cx="24688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NON-HIMALAYAN FATALITIES</a:t>
            </a:r>
          </a:p>
          <a:p>
            <a:pPr>
              <a:defRPr sz="850" b="1">
                <a:solidFill>
                  <a:srgbClr val="64748B"/>
                </a:solidFill>
                <a:latin typeface="Arial"/>
              </a:defRPr>
            </a:pPr>
            <a:r>
              <a:t>Occur across Northeast India (GSI Atlas)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010912"/>
            <a:ext cx="4297680" cy="713232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056632"/>
            <a:ext cx="1645920" cy="6217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C2410C"/>
                </a:solidFill>
                <a:latin typeface="Arial"/>
              </a:defRPr>
            </a:pPr>
            <a:r>
              <a:t>MILLIONS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5084064"/>
            <a:ext cx="24688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CITIZENS VULNERABLE</a:t>
            </a:r>
          </a:p>
          <a:p>
            <a:pPr>
              <a:defRPr sz="850" b="1">
                <a:solidFill>
                  <a:srgbClr val="64748B"/>
                </a:solidFill>
                <a:latin typeface="Arial"/>
              </a:defRPr>
            </a:pPr>
            <a:r>
              <a:t>Vulnerable each monsoon (NDMA Report)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797296"/>
            <a:ext cx="4297680" cy="7132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843016"/>
            <a:ext cx="1645920" cy="6217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Arial"/>
              </a:defRPr>
            </a:pPr>
            <a:r>
              <a:t>100s OF 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870448"/>
            <a:ext cx="2468880" cy="594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INFRASTRUCTURE LOSS</a:t>
            </a:r>
          </a:p>
          <a:p>
            <a:pPr>
              <a:defRPr sz="850" b="1">
                <a:solidFill>
                  <a:srgbClr val="64748B"/>
                </a:solidFill>
                <a:latin typeface="Arial"/>
              </a:defRPr>
            </a:pPr>
            <a:r>
              <a:t>Annual highway &amp; freight disruption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804672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Arial"/>
              </a:defRPr>
            </a:pPr>
            <a:r>
              <a:t>❖ AEGIS Solution: Unified 3-Tier Zero-Hardware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1152144"/>
            <a:ext cx="6858000" cy="54498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0" y="1280160"/>
            <a:ext cx="6583680" cy="347472"/>
          </a:xfrm>
          <a:prstGeom prst="roundRect">
            <a:avLst>
              <a:gd name="adj" fmla="val 12000"/>
            </a:avLst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TIER 1: REAL-TIME DATA INGESTION &amp; SATELLITE TELEMETRY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682495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1792224"/>
            <a:ext cx="329184" cy="32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522976" y="1773936"/>
            <a:ext cx="15727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NASA SRTM DEM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7216" y="2157984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30m Elevation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2432303"/>
            <a:ext cx="18653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19">
                <a:solidFill>
                  <a:srgbClr val="475569"/>
                </a:solidFill>
              </a:defRPr>
            </a:pPr>
            <a:r>
              <a:t>Slope &amp; Curvature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1682495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87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3" y="1792224"/>
            <a:ext cx="329184" cy="3291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54112" y="1773936"/>
            <a:ext cx="15727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IMD AWS &amp; Radar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88352" y="2157984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66534"/>
                </a:solidFill>
              </a:defRPr>
            </a:pPr>
            <a:r>
              <a:t>Live Doppler Telemetry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2432303"/>
            <a:ext cx="18653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19">
                <a:solidFill>
                  <a:srgbClr val="475569"/>
                </a:solidFill>
              </a:defRPr>
            </a:pPr>
            <a:r>
              <a:t>15-Min Dynamic 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1682495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199" y="1792224"/>
            <a:ext cx="329184" cy="3291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985247" y="1773936"/>
            <a:ext cx="15727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B91C1C"/>
                </a:solidFill>
              </a:defRPr>
            </a:pPr>
            <a:r>
              <a:t>GSI NLSM Atlas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9488" y="2157984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91C1C"/>
                </a:solidFill>
              </a:defRPr>
            </a:pPr>
            <a:r>
              <a:t>1:50k Susceptibility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2432303"/>
            <a:ext cx="18653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19">
                <a:solidFill>
                  <a:srgbClr val="475569"/>
                </a:solidFill>
              </a:defRPr>
            </a:pPr>
            <a:r>
              <a:t>30,842+ Past Slips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2798064"/>
            <a:ext cx="4572000" cy="237744"/>
          </a:xfrm>
          <a:prstGeom prst="roundRect">
            <a:avLst>
              <a:gd name="adj" fmla="val 30000"/>
            </a:avLst>
          </a:prstGeom>
          <a:solidFill>
            <a:srgbClr val="EEF2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4338CA"/>
                </a:solidFill>
              </a:defRPr>
            </a:pPr>
            <a:r>
              <a:t>▼  FastAPI Spatial Core Ingestion Stream  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3090672"/>
            <a:ext cx="6583680" cy="347472"/>
          </a:xfrm>
          <a:prstGeom prst="roundRect">
            <a:avLst>
              <a:gd name="adj" fmla="val 12000"/>
            </a:avLst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TIER 2: LANDSLIDENET AI &amp; GEOTECHNICAL PHYSICS ENGINE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3493008"/>
            <a:ext cx="6583680" cy="1115568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8072" y="3566160"/>
            <a:ext cx="365760" cy="3657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68696" y="3547872"/>
            <a:ext cx="26517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6B21A8"/>
                </a:solidFill>
              </a:defRPr>
            </a:pPr>
            <a:r>
              <a:t>LandslideNet ML Core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68696" y="3822191"/>
            <a:ext cx="2560320" cy="237744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6B21A8"/>
                </a:solidFill>
              </a:defRPr>
            </a:pPr>
            <a:r>
              <a:t>XGBoost + Random Forest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9912" y="3566160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860536" y="3547872"/>
            <a:ext cx="26517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C2410C"/>
                </a:solidFill>
              </a:defRPr>
            </a:pPr>
            <a:r>
              <a:t>Geotechnical Physics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0536" y="3822191"/>
            <a:ext cx="2560320" cy="237744"/>
          </a:xfrm>
          <a:prstGeom prst="roundRect">
            <a:avLst>
              <a:gd name="adj" fmla="val 25000"/>
            </a:avLst>
          </a:prstGeom>
          <a:solidFill>
            <a:srgbClr val="FEEDD5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C2410C"/>
                </a:solidFill>
              </a:defRPr>
            </a:pPr>
            <a:r>
              <a:t>Dynamic I-D Rainfall Curves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0640" y="4187952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6B21A8"/>
                </a:solidFill>
              </a:defRPr>
            </a:pPr>
            <a:r>
              <a:t>89.3% Accuracy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89420" y="4187952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6B21A8"/>
                </a:solidFill>
              </a:defRPr>
            </a:pPr>
            <a:r>
              <a:t>0.92 ROC-AUC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58200" y="4187952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6B21A8"/>
                </a:solidFill>
              </a:defRPr>
            </a:pPr>
            <a:r>
              <a:t>&lt;1.2s API Speed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26980" y="4187952"/>
            <a:ext cx="157734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6B21A8"/>
                </a:solidFill>
              </a:defRPr>
            </a:pPr>
            <a:r>
              <a:t>SHAP Explainable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35040" y="4663440"/>
            <a:ext cx="4572000" cy="237744"/>
          </a:xfrm>
          <a:prstGeom prst="roundRect">
            <a:avLst>
              <a:gd name="adj" fmla="val 30000"/>
            </a:avLst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19">
                <a:solidFill>
                  <a:srgbClr val="C2410C"/>
                </a:solidFill>
              </a:defRPr>
            </a:pPr>
            <a:r>
              <a:t>▼  Automated Risk Classification &amp; CAP Dispatch  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4956048"/>
            <a:ext cx="6583680" cy="347472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TIER 3: MULTI-AGENCY DISASTER ACTION &amp; LAST-MILE ALERTING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0" y="5358383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8928" y="5468112"/>
            <a:ext cx="329184" cy="32918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522976" y="5449823"/>
            <a:ext cx="15727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Command Radar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57216" y="5833871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952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E3A8A"/>
                </a:solidFill>
              </a:defRPr>
            </a:pPr>
            <a:r>
              <a:t>District EOCs &amp; DDMAs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7216" y="6108192"/>
            <a:ext cx="18653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19">
                <a:solidFill>
                  <a:srgbClr val="475569"/>
                </a:solidFill>
              </a:defRPr>
            </a:pPr>
            <a:r>
              <a:t>16-Zone Live Heatmap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60336" y="5358383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0063" y="5468112"/>
            <a:ext cx="329184" cy="32918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754112" y="5449823"/>
            <a:ext cx="15727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B91C1C"/>
                </a:solidFill>
              </a:defRPr>
            </a:pPr>
            <a:r>
              <a:t>1-Tap CAP Webhook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88352" y="5833871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952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B91C1C"/>
                </a:solidFill>
              </a:defRPr>
            </a:pPr>
            <a:r>
              <a:t>NDRF &amp; SDRF Mobilize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88352" y="6108192"/>
            <a:ext cx="18653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19">
                <a:solidFill>
                  <a:srgbClr val="475569"/>
                </a:solidFill>
              </a:defRPr>
            </a:pPr>
            <a:r>
              <a:t>Automated Highway Gates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491472" y="5358383"/>
            <a:ext cx="2121408" cy="10515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87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199" y="5468112"/>
            <a:ext cx="329184" cy="32918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985247" y="5449823"/>
            <a:ext cx="157276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Offline BLE Mesh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19488" y="5833871"/>
            <a:ext cx="1865376" cy="256032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166534"/>
                </a:solidFill>
              </a:defRPr>
            </a:pPr>
            <a:r>
              <a:t>0 KB Internet Needed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19488" y="6108192"/>
            <a:ext cx="1865376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19">
                <a:solidFill>
                  <a:srgbClr val="475569"/>
                </a:solidFill>
              </a:defRPr>
            </a:pPr>
            <a:r>
              <a:t>12 Tribal Voice Sirens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880"/>
            <a:ext cx="132588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50">
                <a:solidFill>
                  <a:srgbClr val="4F46E5"/>
                </a:solidFill>
                <a:latin typeface="Arial"/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IDEA / PROTOTYPE &amp; CORE USP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91440"/>
            <a:ext cx="1709033" cy="868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115568"/>
            <a:ext cx="3062177" cy="5486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31920" y="114300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9080" y="127101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26280" y="123444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6B21A8"/>
                </a:solidFill>
              </a:defRPr>
            </a:pPr>
            <a:r>
              <a:t>AI HAZARD SCORING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73352"/>
            <a:ext cx="3657600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6B21A8"/>
                </a:solidFill>
              </a:defRPr>
            </a:pPr>
            <a:r>
              <a:t>0–100% Dynamic Risk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02082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475569"/>
                </a:solidFill>
              </a:defRPr>
            </a:pPr>
            <a:r>
              <a:t>16 NER Zones • XGBoost + RF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4300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1271016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1080" y="123444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1-CLICK CITIZEN GPS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673352"/>
            <a:ext cx="3657600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66534"/>
                </a:solidFill>
              </a:defRPr>
            </a:pPr>
            <a:r>
              <a:t>'SAFE' vs 'CRITICAL RISK'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2082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475569"/>
                </a:solidFill>
              </a:defRPr>
            </a:pPr>
            <a:r>
              <a:t>Live Weather • Safe Shelter Route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51460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080" y="264261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26280" y="260604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B91C1C"/>
                </a:solidFill>
              </a:defRPr>
            </a:pPr>
            <a:r>
              <a:t>1-TAP SOVEREIGN DISPATCH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3044952"/>
            <a:ext cx="3657600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B91C1C"/>
                </a:solidFill>
              </a:defRPr>
            </a:pPr>
            <a:r>
              <a:t>NDRF &amp; SDRF Mobilized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39242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475569"/>
                </a:solidFill>
              </a:defRPr>
            </a:pPr>
            <a:r>
              <a:t>NH-44 Gates Closed • Priority SMS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514600"/>
            <a:ext cx="3931920" cy="1234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880" y="2642616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41080" y="2606040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12 REGIONAL LANGUAGES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044952"/>
            <a:ext cx="3657600" cy="3108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1E3A8A"/>
                </a:solidFill>
              </a:defRPr>
            </a:pPr>
            <a:r>
              <a:t>100% Tribal Dialect 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392424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950">
                <a:solidFill>
                  <a:srgbClr val="475569"/>
                </a:solidFill>
              </a:defRPr>
            </a:pPr>
            <a:r>
              <a:t>Assamese • Khasi • Mizo • Meitei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3931920"/>
            <a:ext cx="80467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4041648"/>
            <a:ext cx="4754880" cy="24505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15400" y="404164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CORE BREAKTHROUGH USP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4462272"/>
            <a:ext cx="2926080" cy="585216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4498848"/>
            <a:ext cx="2743200" cy="51206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0 KB INTERNET</a:t>
            </a:r>
          </a:p>
          <a:p>
            <a:pPr>
              <a:defRPr b="1" sz="900">
                <a:solidFill>
                  <a:srgbClr val="475569"/>
                </a:solidFill>
              </a:defRPr>
            </a:pPr>
            <a:r>
              <a:t>100% Autonomous Offline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138928"/>
            <a:ext cx="2926080" cy="585216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5175504"/>
            <a:ext cx="2743200" cy="51206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100">
                <a:solidFill>
                  <a:srgbClr val="166534"/>
                </a:solidFill>
              </a:defRPr>
            </a:pPr>
            <a:r>
              <a:t>2.4 KM P2P MESH</a:t>
            </a:r>
          </a:p>
          <a:p>
            <a:pPr>
              <a:defRPr b="1" sz="900">
                <a:solidFill>
                  <a:srgbClr val="475569"/>
                </a:solidFill>
              </a:defRPr>
            </a:pPr>
            <a:r>
              <a:t>Multi-Hop Bluetooth Relay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5815583"/>
            <a:ext cx="2926080" cy="585216"/>
          </a:xfrm>
          <a:prstGeom prst="roundRect">
            <a:avLst>
              <a:gd name="adj" fmla="val 15000"/>
            </a:avLst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5852159"/>
            <a:ext cx="2743200" cy="51206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100">
                <a:solidFill>
                  <a:srgbClr val="C2410C"/>
                </a:solidFill>
              </a:defRPr>
            </a:pPr>
            <a:r>
              <a:t>ZERO DRILLING</a:t>
            </a:r>
          </a:p>
          <a:p>
            <a:pPr>
              <a:defRPr b="1" sz="900">
                <a:solidFill>
                  <a:srgbClr val="475569"/>
                </a:solidFill>
              </a:defRPr>
            </a:pPr>
            <a:r>
              <a:t>₹50–100 Lakhs Saved / Slope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880"/>
            <a:ext cx="132588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50">
                <a:solidFill>
                  <a:srgbClr val="4F46E5"/>
                </a:solidFill>
                <a:latin typeface="Arial"/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TECHNICAL APPROACH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91440"/>
            <a:ext cx="1709033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80467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55"/>
                </a:solidFill>
                <a:latin typeface="Arial"/>
              </a:defRPr>
            </a:pPr>
            <a:r>
              <a:t>❖ Technology Stack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2728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216152"/>
            <a:ext cx="4754880" cy="4937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Frontend : </a:t>
            </a:r>
            <a:r>
              <a:rPr b="1" sz="1150">
                <a:solidFill>
                  <a:srgbClr val="0F172A"/>
                </a:solidFill>
              </a:rPr>
              <a:t>React 18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React Native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Vite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Leaflet GIS</a:t>
            </a:r>
            <a:r>
              <a:rPr b="0" sz="1150">
                <a:solidFill>
                  <a:srgbClr val="334155"/>
                </a:solidFill>
              </a:rPr>
              <a:t>, Tailwind CSS, Lucide Icons, Web Audio API.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783080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1746504"/>
            <a:ext cx="4754880" cy="4937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Backend : </a:t>
            </a:r>
            <a:r>
              <a:rPr b="1" sz="1150">
                <a:solidFill>
                  <a:srgbClr val="0F172A"/>
                </a:solidFill>
              </a:rPr>
              <a:t>Python 3.12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FastAPI ASGI</a:t>
            </a:r>
            <a:r>
              <a:rPr b="0" sz="1150">
                <a:solidFill>
                  <a:srgbClr val="334155"/>
                </a:solidFill>
              </a:rPr>
              <a:t>, REST APIs, </a:t>
            </a:r>
            <a:r>
              <a:rPr b="1" sz="1150">
                <a:solidFill>
                  <a:srgbClr val="0F172A"/>
                </a:solidFill>
              </a:rPr>
              <a:t>SQLite Spatial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PostGIS</a:t>
            </a:r>
            <a:r>
              <a:rPr b="0" sz="1150">
                <a:solidFill>
                  <a:srgbClr val="334155"/>
                </a:solidFill>
              </a:rPr>
              <a:t>, Pydantic V2.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313432"/>
            <a:ext cx="27432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2276856"/>
            <a:ext cx="4754880" cy="4937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AI and ML : </a:t>
            </a:r>
            <a:r>
              <a:rPr b="1" sz="1150">
                <a:solidFill>
                  <a:srgbClr val="0F172A"/>
                </a:solidFill>
              </a:rPr>
              <a:t>LandslideNet v3.2</a:t>
            </a:r>
            <a:r>
              <a:rPr b="0" sz="1150">
                <a:solidFill>
                  <a:srgbClr val="334155"/>
                </a:solidFill>
              </a:rPr>
              <a:t> (</a:t>
            </a:r>
            <a:r>
              <a:rPr b="1" sz="1150">
                <a:solidFill>
                  <a:srgbClr val="0F172A"/>
                </a:solidFill>
              </a:rPr>
              <a:t>XGBoost + Random Forest ensemble</a:t>
            </a:r>
            <a:r>
              <a:rPr b="0" sz="1150">
                <a:solidFill>
                  <a:srgbClr val="334155"/>
                </a:solidFill>
              </a:rPr>
              <a:t>), </a:t>
            </a:r>
            <a:r>
              <a:rPr b="1" sz="1150">
                <a:solidFill>
                  <a:srgbClr val="0F172A"/>
                </a:solidFill>
              </a:rPr>
              <a:t>SHAP Feature Weights</a:t>
            </a:r>
            <a:r>
              <a:rPr b="0" sz="1150">
                <a:solidFill>
                  <a:srgbClr val="334155"/>
                </a:solidFill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843784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2807208"/>
            <a:ext cx="4754880" cy="4937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API Services : </a:t>
            </a:r>
            <a:r>
              <a:rPr b="1" sz="1150">
                <a:solidFill>
                  <a:srgbClr val="0F172A"/>
                </a:solidFill>
              </a:rPr>
              <a:t>Open-Meteo REST API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IMD AWS Telemetry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NASA SRTM DEM 30m</a:t>
            </a:r>
            <a:r>
              <a:rPr b="0" sz="1150">
                <a:solidFill>
                  <a:srgbClr val="334155"/>
                </a:solidFill>
              </a:rPr>
              <a:t>, ntfy.sh.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374136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3337560"/>
            <a:ext cx="4754880" cy="4937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Deployment : </a:t>
            </a:r>
            <a:r>
              <a:rPr b="1" sz="1150">
                <a:solidFill>
                  <a:srgbClr val="0F172A"/>
                </a:solidFill>
              </a:rPr>
              <a:t>Netlify Edge CDN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Docker Containerization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GitHub Actions CI/CD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MeghRaj Ready</a:t>
            </a:r>
            <a:r>
              <a:rPr b="0" sz="1150">
                <a:solidFill>
                  <a:srgbClr val="334155"/>
                </a:solidFill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04487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3867912"/>
            <a:ext cx="4754880" cy="49377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1300">
                <a:solidFill>
                  <a:srgbClr val="0F172A"/>
                </a:solidFill>
              </a:rPr>
              <a:t>Testing &amp; Tools : </a:t>
            </a:r>
            <a:r>
              <a:rPr b="1" sz="1150">
                <a:solidFill>
                  <a:srgbClr val="0F172A"/>
                </a:solidFill>
              </a:rPr>
              <a:t>Postman</a:t>
            </a:r>
            <a:r>
              <a:rPr b="0" sz="1150">
                <a:solidFill>
                  <a:srgbClr val="334155"/>
                </a:solidFill>
              </a:rPr>
              <a:t>, </a:t>
            </a:r>
            <a:r>
              <a:rPr b="1" sz="1150">
                <a:solidFill>
                  <a:srgbClr val="0F172A"/>
                </a:solidFill>
              </a:rPr>
              <a:t>PyTest</a:t>
            </a:r>
            <a:r>
              <a:rPr b="0" sz="1150">
                <a:solidFill>
                  <a:srgbClr val="334155"/>
                </a:solidFill>
              </a:rPr>
              <a:t>, Jest, React Testing Library, ESLint, </a:t>
            </a:r>
            <a:r>
              <a:rPr b="1" sz="1150">
                <a:solidFill>
                  <a:srgbClr val="0F172A"/>
                </a:solidFill>
              </a:rPr>
              <a:t>BLE Nearby Protocols</a:t>
            </a:r>
            <a:r>
              <a:rPr b="0" sz="1150">
                <a:solidFill>
                  <a:srgbClr val="334155"/>
                </a:solidFill>
              </a:rPr>
              <a:t>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526280"/>
            <a:ext cx="5120640" cy="1965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52160" y="804672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A55"/>
                </a:solidFill>
                <a:latin typeface="Arial"/>
              </a:defRPr>
            </a:pPr>
            <a:r>
              <a:t>❖ End-to-End System Workflow</a:t>
            </a:r>
          </a:p>
        </p:txBody>
      </p:sp>
      <p:sp>
        <p:nvSpPr>
          <p:cNvPr id="20" name="Cloud 19"/>
          <p:cNvSpPr/>
          <p:nvPr/>
        </p:nvSpPr>
        <p:spPr>
          <a:xfrm>
            <a:off x="5852160" y="1234440"/>
            <a:ext cx="2788920" cy="1371600"/>
          </a:xfrm>
          <a:prstGeom prst="cloud">
            <a:avLst/>
          </a:prstGeom>
          <a:solidFill>
            <a:srgbClr val="FFF7ED"/>
          </a:solidFill>
          <a:ln w="222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250" b="1">
                <a:solidFill>
                  <a:srgbClr val="C2410C"/>
                </a:solidFill>
                <a:latin typeface="Arial"/>
              </a:defRPr>
            </a:pPr>
            <a:r>
              <a:t>1. Ingestion &amp; Radar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475569"/>
                </a:solidFill>
                <a:latin typeface="Arial"/>
              </a:defRPr>
            </a:pPr>
            <a:r>
              <a:t>NASA 30m DEM • Open-Meteo • IMD</a:t>
            </a:r>
          </a:p>
        </p:txBody>
      </p:sp>
      <p:sp>
        <p:nvSpPr>
          <p:cNvPr id="21" name="Cloud 20"/>
          <p:cNvSpPr/>
          <p:nvPr/>
        </p:nvSpPr>
        <p:spPr>
          <a:xfrm>
            <a:off x="9052560" y="1234440"/>
            <a:ext cx="2788920" cy="1371600"/>
          </a:xfrm>
          <a:prstGeom prst="cloud">
            <a:avLst/>
          </a:prstGeom>
          <a:solidFill>
            <a:srgbClr val="F0FDF4"/>
          </a:solidFill>
          <a:ln w="222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250" b="1">
                <a:solidFill>
                  <a:srgbClr val="15803D"/>
                </a:solidFill>
                <a:latin typeface="Arial"/>
              </a:defRPr>
            </a:pPr>
            <a:r>
              <a:t>2. Geotechnical Trigger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475569"/>
                </a:solidFill>
                <a:latin typeface="Arial"/>
              </a:defRPr>
            </a:pPr>
            <a:r>
              <a:t>7-Day API vs. I-D Thresholds (NER)</a:t>
            </a:r>
          </a:p>
        </p:txBody>
      </p:sp>
      <p:sp>
        <p:nvSpPr>
          <p:cNvPr id="22" name="Cloud 21"/>
          <p:cNvSpPr/>
          <p:nvPr/>
        </p:nvSpPr>
        <p:spPr>
          <a:xfrm>
            <a:off x="9052560" y="2807208"/>
            <a:ext cx="2788920" cy="1371600"/>
          </a:xfrm>
          <a:prstGeom prst="cloud">
            <a:avLst/>
          </a:prstGeom>
          <a:solidFill>
            <a:srgbClr val="EFF6FF"/>
          </a:solidFill>
          <a:ln w="222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250" b="1">
                <a:solidFill>
                  <a:srgbClr val="1E3A8A"/>
                </a:solidFill>
                <a:latin typeface="Arial"/>
              </a:defRPr>
            </a:pPr>
            <a:r>
              <a:t>3. 30m Cell Downscaling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475569"/>
                </a:solidFill>
                <a:latin typeface="Arial"/>
              </a:defRPr>
            </a:pPr>
            <a:r>
              <a:t>Blended IMD AWS + GSI 1:50k NLSM</a:t>
            </a:r>
          </a:p>
        </p:txBody>
      </p:sp>
      <p:sp>
        <p:nvSpPr>
          <p:cNvPr id="23" name="Cloud 22"/>
          <p:cNvSpPr/>
          <p:nvPr/>
        </p:nvSpPr>
        <p:spPr>
          <a:xfrm>
            <a:off x="5852160" y="2807208"/>
            <a:ext cx="2788920" cy="1371600"/>
          </a:xfrm>
          <a:prstGeom prst="cloud">
            <a:avLst/>
          </a:prstGeom>
          <a:solidFill>
            <a:srgbClr val="FEFCE8"/>
          </a:solidFill>
          <a:ln w="22225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250" b="1">
                <a:solidFill>
                  <a:srgbClr val="A16207"/>
                </a:solidFill>
                <a:latin typeface="Arial"/>
              </a:defRPr>
            </a:pPr>
            <a:r>
              <a:t>4. LandslideNet AI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475569"/>
                </a:solidFill>
                <a:latin typeface="Arial"/>
              </a:defRPr>
            </a:pPr>
            <a:r>
              <a:t>XGBoost + RF Ensemble (89.3%)</a:t>
            </a:r>
          </a:p>
        </p:txBody>
      </p:sp>
      <p:sp>
        <p:nvSpPr>
          <p:cNvPr id="24" name="Cloud 23"/>
          <p:cNvSpPr/>
          <p:nvPr/>
        </p:nvSpPr>
        <p:spPr>
          <a:xfrm>
            <a:off x="5852160" y="4379976"/>
            <a:ext cx="2788920" cy="1371600"/>
          </a:xfrm>
          <a:prstGeom prst="cloud">
            <a:avLst/>
          </a:prstGeom>
          <a:solidFill>
            <a:srgbClr val="FEF2F2"/>
          </a:solidFill>
          <a:ln w="222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250" b="1">
                <a:solidFill>
                  <a:srgbClr val="B91C1C"/>
                </a:solidFill>
                <a:latin typeface="Arial"/>
              </a:defRPr>
            </a:pPr>
            <a:r>
              <a:t>5. 1-Click Dispatch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475569"/>
                </a:solidFill>
                <a:latin typeface="Arial"/>
              </a:defRPr>
            </a:pPr>
            <a:r>
              <a:t>NDRF 1st Bn • NH-44 Barrier Gates</a:t>
            </a:r>
          </a:p>
        </p:txBody>
      </p:sp>
      <p:sp>
        <p:nvSpPr>
          <p:cNvPr id="25" name="Cloud 24"/>
          <p:cNvSpPr/>
          <p:nvPr/>
        </p:nvSpPr>
        <p:spPr>
          <a:xfrm>
            <a:off x="9052560" y="4379976"/>
            <a:ext cx="2788920" cy="1371600"/>
          </a:xfrm>
          <a:prstGeom prst="cloud">
            <a:avLst/>
          </a:prstGeom>
          <a:solidFill>
            <a:srgbClr val="FAF5FF"/>
          </a:solidFill>
          <a:ln w="22225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250" b="1">
                <a:solidFill>
                  <a:srgbClr val="6B21A8"/>
                </a:solidFill>
                <a:latin typeface="Arial"/>
              </a:defRPr>
            </a:pPr>
            <a:r>
              <a:t>6. Offline BLE Mesh</a:t>
            </a:r>
          </a:p>
          <a:p>
            <a:pPr algn="ctr">
              <a:spcBef>
                <a:spcPts val="200"/>
              </a:spcBef>
              <a:defRPr sz="950" b="0">
                <a:solidFill>
                  <a:srgbClr val="475569"/>
                </a:solidFill>
                <a:latin typeface="Arial"/>
              </a:defRPr>
            </a:pPr>
            <a:r>
              <a:t>0 KB Net • 12 Tribal Dialect Sirens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686800" y="1828800"/>
            <a:ext cx="32004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0355580" y="2624328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eft Arrow 27"/>
          <p:cNvSpPr/>
          <p:nvPr/>
        </p:nvSpPr>
        <p:spPr>
          <a:xfrm>
            <a:off x="8686800" y="3401568"/>
            <a:ext cx="320040" cy="182880"/>
          </a:xfrm>
          <a:prstGeom prst="lef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7155180" y="4197095"/>
            <a:ext cx="182880" cy="164592"/>
          </a:xfrm>
          <a:prstGeom prst="down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8686800" y="4974336"/>
            <a:ext cx="320040" cy="1828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52160" y="5989320"/>
            <a:ext cx="5989320" cy="594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E3A8A"/>
                </a:solidFill>
                <a:latin typeface="Arial"/>
              </a:defRPr>
            </a:pPr>
            <a:r>
              <a:t>★ LandslideNet Validation: Precision: 88.1% | Recall: 91.2% | F1-Score: 0.896 | FAR: &lt;11% | ROC-AUC: 0.92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880"/>
            <a:ext cx="132588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50">
                <a:solidFill>
                  <a:srgbClr val="4F46E5"/>
                </a:solidFill>
                <a:latin typeface="Arial"/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91440"/>
            <a:ext cx="1709033" cy="868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86868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68680"/>
            <a:ext cx="5486400" cy="40233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923544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0120" y="886968"/>
            <a:ext cx="4754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FEASIBILITY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5331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100% OPEN APIS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Open-Meteo • IMD AWS • NASA DEM  •  99.4% Verified SLA Uptime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8483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2140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₹50–100 LAKHS SAVED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Per Slope vs Borehole Sensors  •  Zero In-Situ Drilling Hardware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1635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5292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&lt;₹5,000 / MONTH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Total District Cloud Deployment  •  Hosted on NIC MeghRaj Sovereign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4787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8444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66534"/>
                </a:solidFill>
              </a:defRPr>
            </a:pPr>
            <a:r>
              <a:t>0% WASHOUT RISK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Zero Physical Mountain Hardware  •  Immune to Monsoonal Flash Floods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868680"/>
            <a:ext cx="548640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868680"/>
            <a:ext cx="5486400" cy="40233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923544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20840" y="886968"/>
            <a:ext cx="4754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VIABILITY &amp; SCALABILITY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5331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38988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PAN-REGIONAL SCALE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Direct Institutional Integration  •  NDMA SACHET &amp; State EOC Webhooks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08483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12140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SIGNIFICANT CASUALTY CUT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Actionable Early Warning Lead Time  •  Evacuation 4–6 Hours in Advance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81635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85292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PREVENTS 100s OF CR DAMAGE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National Freight Asset Protection  •  Automated Highway Diversions &amp; Barriers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47872"/>
            <a:ext cx="5120640" cy="658368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584448"/>
            <a:ext cx="4846320" cy="58521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LAST-MILE TRIBAL REACH</a:t>
            </a:r>
          </a:p>
          <a:p>
            <a:pPr>
              <a:defRPr b="1" sz="950">
                <a:solidFill>
                  <a:srgbClr val="0F172A"/>
                </a:solidFill>
              </a:defRPr>
            </a:pPr>
            <a:r>
              <a:t>12 Vernacular Dialect Voice Sirens  •  Offline BLE Mesh for Isolated Valleys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53712"/>
            <a:ext cx="5486400" cy="20482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0857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❖ Primary Beneficiaries &amp; Deployment Scenarios: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956048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05840" y="4919472"/>
            <a:ext cx="475488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District Magistrates (DDMA)</a:t>
            </a:r>
          </a:p>
          <a:p>
            <a:pPr>
              <a:defRPr b="1" sz="919">
                <a:solidFill>
                  <a:srgbClr val="475569"/>
                </a:solidFill>
              </a:defRPr>
            </a:pPr>
            <a:r>
              <a:t>Real-time command radar with 4–6 hrs advance lead time.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449824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05840" y="5413248"/>
            <a:ext cx="475488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NDRF &amp; SDRF First Responders</a:t>
            </a:r>
          </a:p>
          <a:p>
            <a:pPr>
              <a:defRPr b="1" sz="919">
                <a:solidFill>
                  <a:srgbClr val="475569"/>
                </a:solidFill>
              </a:defRPr>
            </a:pPr>
            <a:r>
              <a:t>Automated dispatch webhook with exact GIS rupture points.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5943600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5840" y="5907024"/>
            <a:ext cx="475488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Rural Hill Communities</a:t>
            </a:r>
          </a:p>
          <a:p>
            <a:pPr>
              <a:defRPr b="1" sz="919">
                <a:solidFill>
                  <a:srgbClr val="475569"/>
                </a:solidFill>
              </a:defRPr>
            </a:pPr>
            <a:r>
              <a:t>12 tribal dialect voice sirens without internet dependency.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553712"/>
            <a:ext cx="5486400" cy="20482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0857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F497D"/>
                </a:solidFill>
              </a:defRPr>
            </a:pPr>
            <a:r>
              <a:t>❖ Authoritative Data Sources &amp; Compliance: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919472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4992624"/>
            <a:ext cx="2276856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1050">
                <a:solidFill>
                  <a:srgbClr val="2563EB"/>
                </a:solidFill>
              </a:defRPr>
            </a:pPr>
            <a:r>
              <a:t>GSI NLSM Baseline</a:t>
            </a:r>
          </a:p>
          <a:p>
            <a:pPr algn="ctr">
              <a:defRPr b="1" sz="850">
                <a:solidFill>
                  <a:srgbClr val="475569"/>
                </a:solidFill>
              </a:defRPr>
            </a:pPr>
            <a:r>
              <a:t>4.3L sq km susceptibility &amp; 30k+ slips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40" y="4919472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79992" y="4992624"/>
            <a:ext cx="2276856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1050">
                <a:solidFill>
                  <a:srgbClr val="16A34A"/>
                </a:solidFill>
              </a:defRPr>
            </a:pPr>
            <a:r>
              <a:t>IMD AWS Telemetry</a:t>
            </a:r>
          </a:p>
          <a:p>
            <a:pPr algn="ctr">
              <a:defRPr b="1" sz="850">
                <a:solidFill>
                  <a:srgbClr val="475569"/>
                </a:solidFill>
              </a:defRPr>
            </a:pPr>
            <a:r>
              <a:t>Live hourly precipitation &amp; Doppler feeds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724144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5797296"/>
            <a:ext cx="2276856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1050">
                <a:solidFill>
                  <a:srgbClr val="DC2626"/>
                </a:solidFill>
              </a:defRPr>
            </a:pPr>
            <a:r>
              <a:t>NDMA SACHET CAP</a:t>
            </a:r>
          </a:p>
          <a:p>
            <a:pPr algn="ctr">
              <a:defRPr b="1" sz="850">
                <a:solidFill>
                  <a:srgbClr val="475569"/>
                </a:solidFill>
              </a:defRPr>
            </a:pPr>
            <a:r>
              <a:t>100% compliant with National Alert Protocol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06840" y="5724144"/>
            <a:ext cx="2423160" cy="713232"/>
          </a:xfrm>
          <a:prstGeom prst="roundRect">
            <a:avLst>
              <a:gd name="adj" fmla="val 10000"/>
            </a:avLst>
          </a:prstGeom>
          <a:solidFill>
            <a:srgbClr val="FAF5FF"/>
          </a:solidFill>
          <a:ln w="127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9992" y="5797296"/>
            <a:ext cx="2276856" cy="56692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1050">
                <a:solidFill>
                  <a:srgbClr val="9333EA"/>
                </a:solidFill>
              </a:defRPr>
            </a:pPr>
            <a:r>
              <a:t>NIC MeghRaj Cloud</a:t>
            </a:r>
          </a:p>
          <a:p>
            <a:pPr algn="ctr">
              <a:defRPr b="1" sz="850">
                <a:solidFill>
                  <a:srgbClr val="475569"/>
                </a:solidFill>
              </a:defRPr>
            </a:pPr>
            <a:r>
              <a:t>Sovereign cloud hosting with 99.4% uptime SLA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880"/>
            <a:ext cx="132588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50">
                <a:solidFill>
                  <a:srgbClr val="4F46E5"/>
                </a:solidFill>
                <a:latin typeface="Arial"/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91440"/>
            <a:ext cx="1709033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80467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5"/>
                </a:solidFill>
              </a:defRPr>
            </a:pPr>
            <a:r>
              <a:t>❖ Humanitarian Ground 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52144"/>
            <a:ext cx="5120640" cy="2560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222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1225296"/>
            <a:ext cx="4974336" cy="24140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840480"/>
            <a:ext cx="1645920" cy="1097280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554480" cy="10058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2200">
                <a:solidFill>
                  <a:srgbClr val="166534"/>
                </a:solidFill>
              </a:defRPr>
            </a:pPr>
            <a:r>
              <a:t>HIGH</a:t>
            </a:r>
          </a:p>
          <a:p>
            <a:pPr algn="ctr">
              <a:defRPr b="1" sz="950">
                <a:solidFill>
                  <a:srgbClr val="0F172A"/>
                </a:solidFill>
              </a:defRPr>
            </a:pPr>
            <a:r>
              <a:t>CASUALTY REDUCTION</a:t>
            </a:r>
          </a:p>
          <a:p>
            <a:pPr algn="ctr">
              <a:defRPr b="1" sz="800">
                <a:solidFill>
                  <a:srgbClr val="64748B"/>
                </a:solidFill>
              </a:defRPr>
            </a:pPr>
            <a:r>
              <a:t>Through 4–6 hr advance alerts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840480"/>
            <a:ext cx="1645920" cy="109728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3886200"/>
            <a:ext cx="1554480" cy="10058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2200">
                <a:solidFill>
                  <a:srgbClr val="2563EB"/>
                </a:solidFill>
              </a:defRPr>
            </a:pPr>
            <a:r>
              <a:t>NER-WIDE</a:t>
            </a:r>
          </a:p>
          <a:p>
            <a:pPr algn="ctr">
              <a:defRPr b="1" sz="950">
                <a:solidFill>
                  <a:srgbClr val="0F172A"/>
                </a:solidFill>
              </a:defRPr>
            </a:pPr>
            <a:r>
              <a:t>COMMUNITY REACH</a:t>
            </a:r>
          </a:p>
          <a:p>
            <a:pPr algn="ctr">
              <a:defRPr b="1" sz="800">
                <a:solidFill>
                  <a:srgbClr val="64748B"/>
                </a:solidFill>
              </a:defRPr>
            </a:pPr>
            <a:r>
              <a:t>Across vulnerable hill districts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3840480"/>
            <a:ext cx="1645920" cy="109728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3886200"/>
            <a:ext cx="1554480" cy="10058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b="1" sz="2200">
                <a:solidFill>
                  <a:srgbClr val="C2410C"/>
                </a:solidFill>
              </a:defRPr>
            </a:pPr>
            <a:r>
              <a:t>0 KB</a:t>
            </a:r>
          </a:p>
          <a:p>
            <a:pPr algn="ctr">
              <a:defRPr b="1" sz="950">
                <a:solidFill>
                  <a:srgbClr val="0F172A"/>
                </a:solidFill>
              </a:defRPr>
            </a:pPr>
            <a:r>
              <a:t>INTERNET DEPENDENCY</a:t>
            </a:r>
          </a:p>
          <a:p>
            <a:pPr algn="ctr">
              <a:defRPr b="1" sz="800">
                <a:solidFill>
                  <a:srgbClr val="64748B"/>
                </a:solidFill>
              </a:defRPr>
            </a:pPr>
            <a:r>
              <a:t>Autonomous BLE mesh operation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074920"/>
            <a:ext cx="5120640" cy="150876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38928"/>
            <a:ext cx="484632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1150">
                <a:solidFill>
                  <a:srgbClr val="166534"/>
                </a:solidFill>
              </a:defRPr>
            </a:pPr>
            <a:r>
              <a:t>❖ MISSION OBJECTIVE: ZERO ZERO-WARNING CASUALTIES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86400"/>
            <a:ext cx="4846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79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04688"/>
            <a:ext cx="466344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950">
                <a:solidFill>
                  <a:srgbClr val="166534"/>
                </a:solidFill>
              </a:rPr>
              <a:t>★ 4–6 HR ADVANCE ALERT:  </a:t>
            </a:r>
            <a:r>
              <a:rPr b="1" sz="900">
                <a:solidFill>
                  <a:srgbClr val="475569"/>
                </a:solidFill>
              </a:rPr>
              <a:t>Guaranteed Evacuation Window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33872"/>
            <a:ext cx="4846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79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52159"/>
            <a:ext cx="466344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950">
                <a:solidFill>
                  <a:srgbClr val="166534"/>
                </a:solidFill>
              </a:rPr>
              <a:t>★ 0 KB INTERNET NEEDED:  </a:t>
            </a:r>
            <a:r>
              <a:rPr b="1" sz="900">
                <a:solidFill>
                  <a:srgbClr val="475569"/>
                </a:solidFill>
              </a:rPr>
              <a:t>Autonomous P2P BLE Mesh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81344"/>
            <a:ext cx="484632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079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199631"/>
            <a:ext cx="466344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950">
                <a:solidFill>
                  <a:srgbClr val="166534"/>
                </a:solidFill>
              </a:rPr>
              <a:t>★ ₹0 DRILLING HARDWARE:  </a:t>
            </a:r>
            <a:r>
              <a:rPr b="1" sz="900">
                <a:solidFill>
                  <a:srgbClr val="475569"/>
                </a:solidFill>
              </a:rPr>
              <a:t>Immune to Monsoonal Washout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804672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A55"/>
                </a:solidFill>
              </a:defRPr>
            </a:pPr>
            <a:r>
              <a:t>❖ Multi-Tier Beneficiary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1170432"/>
            <a:ext cx="5852160" cy="16916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97880" y="1170432"/>
            <a:ext cx="5852160" cy="329184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CITIZEN EMPOWERMENT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1572768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591056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16A34A"/>
                </a:solidFill>
              </a:rPr>
              <a:t>★ 1-Click GPS Check:  </a:t>
            </a:r>
            <a:r>
              <a:rPr b="1" sz="919">
                <a:solidFill>
                  <a:srgbClr val="0F172A"/>
                </a:solidFill>
              </a:rPr>
              <a:t>Instant Coordinate Safety &amp; Live Weather Index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1975104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1993392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16A34A"/>
                </a:solidFill>
              </a:rPr>
              <a:t>★ 12 Tribal Dialects:  </a:t>
            </a:r>
            <a:r>
              <a:rPr b="1" sz="919">
                <a:solidFill>
                  <a:srgbClr val="0F172A"/>
                </a:solidFill>
              </a:rPr>
              <a:t>Assamese, Khasi, Mizo, Meitei — Zero Left Behind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377440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395728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16A34A"/>
                </a:solidFill>
              </a:rPr>
              <a:t>★ Bedrock Shelters:  </a:t>
            </a:r>
            <a:r>
              <a:rPr b="1" sz="919">
                <a:solidFill>
                  <a:srgbClr val="0F172A"/>
                </a:solidFill>
              </a:rPr>
              <a:t>Offline Maps Direct to Safe High-Ground Relief Points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2962656"/>
            <a:ext cx="5852160" cy="16916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897880" y="2962656"/>
            <a:ext cx="5852160" cy="32918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GOVERNMENT &amp; DEFENSE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364992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3383280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★ Automated NDRF Orders:  </a:t>
            </a:r>
            <a:r>
              <a:rPr b="1" sz="919">
                <a:solidFill>
                  <a:srgbClr val="0F172A"/>
                </a:solidFill>
              </a:rPr>
              <a:t>Mobilizes 1st Bn Guwahati &amp; SDRF Instant Dispatch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3767328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3785615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★ Highway Barrier Gates:  </a:t>
            </a:r>
            <a:r>
              <a:rPr b="1" sz="919">
                <a:solidFill>
                  <a:srgbClr val="0F172A"/>
                </a:solidFill>
              </a:rPr>
              <a:t>Automates Closure on NH-44 &amp; NH-29 to Halt Traffic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4169664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4187952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★ Unified Command GIS:  </a:t>
            </a:r>
            <a:r>
              <a:rPr b="1" sz="919">
                <a:solidFill>
                  <a:srgbClr val="0F172A"/>
                </a:solidFill>
              </a:rPr>
              <a:t>Real-Time 16-Zone Risk Heatmap for MDoNER &amp; NDMA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4754880"/>
            <a:ext cx="5852160" cy="16916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897880" y="4754880"/>
            <a:ext cx="5852160" cy="329184"/>
          </a:xfrm>
          <a:prstGeom prst="roundRect">
            <a:avLst>
              <a:gd name="adj" fmla="val 12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COMMUNITY &amp; RURAL RESILIENCE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5157216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175504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★ Sub-5.9MB APK Size:  </a:t>
            </a:r>
            <a:r>
              <a:rPr b="1" sz="919">
                <a:solidFill>
                  <a:srgbClr val="0F172A"/>
                </a:solidFill>
              </a:rPr>
              <a:t>Installs on Low-Cost ₹5,000 Android Devices in Valleys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80760" y="5559552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5577840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★ 0 KB Internet Mesh:  </a:t>
            </a:r>
            <a:r>
              <a:rPr b="1" sz="919">
                <a:solidFill>
                  <a:srgbClr val="0F172A"/>
                </a:solidFill>
              </a:rPr>
              <a:t>Propagates Hazard Sirens Phone-to-Phone via BLE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5961888"/>
            <a:ext cx="5486400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980176"/>
            <a:ext cx="530352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b="1" sz="1000">
                <a:solidFill>
                  <a:srgbClr val="EA580C"/>
                </a:solidFill>
              </a:rPr>
              <a:t>★ 100% Free &amp; Open-Source:  </a:t>
            </a:r>
            <a:r>
              <a:rPr b="1" sz="919">
                <a:solidFill>
                  <a:srgbClr val="0F172A"/>
                </a:solidFill>
              </a:rPr>
              <a:t>Zero Cloud Fees &amp; Zero Proprietary Subscriptions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182880"/>
            <a:ext cx="1325880" cy="40233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22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50">
                <a:solidFill>
                  <a:srgbClr val="4F46E5"/>
                </a:solidFill>
                <a:latin typeface="Arial"/>
              </a:defRPr>
            </a:pPr>
            <a:r>
              <a:t>AEGIS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6459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91440"/>
            <a:ext cx="1709033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777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F2A55"/>
                </a:solidFill>
              </a:defRPr>
            </a:pPr>
            <a:r>
              <a:t>❖ Comparative Analysis: Operational Scope &amp; Mandate Across Disaster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78992"/>
            <a:ext cx="11277295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15568"/>
          <a:ext cx="11176711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495"/>
                <a:gridCol w="2194560"/>
                <a:gridCol w="2130552"/>
                <a:gridCol w="2130552"/>
                <a:gridCol w="2130552"/>
              </a:tblGrid>
              <a:tr h="49116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Functional Dimension / Scope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C59B27"/>
                          </a:solidFill>
                          <a:latin typeface="Arial"/>
                        </a:defRPr>
                      </a:pPr>
                      <a:r>
                        <a:t>AEGIS (Proposed LEWS)</a:t>
                      </a:r>
                    </a:p>
                  </a:txBody>
                  <a:tcPr anchor="ctr">
                    <a:solidFill>
                      <a:srgbClr val="0F2A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GSI NLSM Portal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IMD Weather App / Portal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NASA LHASA 2.0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Primary Mandate &amp; Design Focus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532D"/>
                          </a:solidFill>
                          <a:latin typeface="Arial"/>
                        </a:defRPr>
                      </a:pPr>
                      <a:r>
                        <a:t>Hyper-local early warning &amp; last-mile community alert propagation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National-scale geological susceptibility mapping &amp; GIS atlas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Synoptic meteorological observation, forecasting &amp; weather warnings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Global satellite-based landslide hazard research &amp; situational modeling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Hazard Prediction Cadence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532D"/>
                          </a:solidFill>
                          <a:latin typeface="Arial"/>
                        </a:defRPr>
                      </a:pPr>
                      <a:r>
                        <a:t>Near real-time dynamic inference combining rainfall, slope &amp; soil data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Macro-level susceptibility baselines; updated periodically per season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Doppler radar nowcasts &amp; 3-hourly AWS precipitation telemetry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Near real-time global multi-satellite rainfall heuristic triggers (GPM)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Offline / Blackout Communication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532D"/>
                          </a:solidFill>
                          <a:latin typeface="Arial"/>
                        </a:defRPr>
                      </a:pPr>
                      <a:r>
                        <a:t>Targeted BLE peer-to-peer mesh designed for zero-cellular conditions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Cloud/web portal access; field offline mesh not within portal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Standard cellular &amp; internet delivery; offline mesh not in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Cloud-hosted data &amp; API feeds; local offline relay not intended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Citizen Micro-Routing &amp; Radar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532D"/>
                          </a:solidFill>
                          <a:latin typeface="Arial"/>
                        </a:defRPr>
                      </a:pPr>
                      <a:r>
                        <a:t>1-Click GPS coordinate check with offline shelter navigation routes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Regional susceptibility maps; citizen micro-routing not identified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District &amp; station-level agro-met bulletins; no slope-route guidance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Global 1 km risk grid; not structured for localized citizen routing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1163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Automated Sovereign Dispatch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532D"/>
                          </a:solidFill>
                          <a:latin typeface="Arial"/>
                        </a:defRPr>
                      </a:pPr>
                      <a:r>
                        <a:t>1-Click multi-agency triggers (NDRF, SDRF, NH-44 highway gates)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Scientific advisories shared with state nodal disaster authorities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Common Alerting Protocol (CAP) feeds &amp; institutional weather bulletins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Open scientific outputs utilized by humanitarian &amp; research partners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166"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Hardware &amp; Deployment Scope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1">
                          <a:solidFill>
                            <a:srgbClr val="14532D"/>
                          </a:solidFill>
                          <a:latin typeface="Arial"/>
                        </a:defRPr>
                      </a:pPr>
                      <a:r>
                        <a:t>Zero in-situ geotechnical drilling; leverages smartphone sensors &amp; APIs</a:t>
                      </a:r>
                    </a:p>
                  </a:txBody>
                  <a:tcPr anchor="ctr"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Regional pilot slope sensors where funded; primarily GIS data service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Expansive national network of surface weather stations &amp; Doppler radar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Spaceborne Earth Observation fleet (GPM, MODIS, SRTM DEM)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681728"/>
            <a:ext cx="2716453" cy="9601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791456"/>
            <a:ext cx="621792" cy="6217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25295" y="4709160"/>
            <a:ext cx="1911781" cy="8778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950">
                <a:solidFill>
                  <a:srgbClr val="1E3A8A"/>
                </a:solidFill>
              </a:defRPr>
            </a:pPr>
            <a:r>
              <a:t>Geological Survey of India</a:t>
            </a:r>
          </a:p>
          <a:p>
            <a:pPr>
              <a:spcBef>
                <a:spcPts val="200"/>
              </a:spcBef>
              <a:defRPr b="1" sz="800">
                <a:solidFill>
                  <a:srgbClr val="475569"/>
                </a:solidFill>
              </a:defRPr>
            </a:pPr>
            <a:r>
              <a:t>NLSM 1:50k Atlas (30.8k Slips)</a:t>
            </a:r>
          </a:p>
          <a:p>
            <a:pPr>
              <a:spcBef>
                <a:spcPts val="200"/>
              </a:spcBef>
              <a:defRPr b="1" sz="819">
                <a:solidFill>
                  <a:srgbClr val="2563EB"/>
                </a:solidFill>
              </a:defRPr>
            </a:pPr>
            <a:r>
              <a:t>🔗 bhukosh.gsi.gov.in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813" y="4681728"/>
            <a:ext cx="2716453" cy="9601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253" y="4791456"/>
            <a:ext cx="621792" cy="621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78909" y="4709160"/>
            <a:ext cx="1911781" cy="8778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950">
                <a:solidFill>
                  <a:srgbClr val="166534"/>
                </a:solidFill>
              </a:defRPr>
            </a:pPr>
            <a:r>
              <a:t>India Meteorological Dept</a:t>
            </a:r>
          </a:p>
          <a:p>
            <a:pPr>
              <a:spcBef>
                <a:spcPts val="200"/>
              </a:spcBef>
              <a:defRPr b="1" sz="800">
                <a:solidFill>
                  <a:srgbClr val="475569"/>
                </a:solidFill>
              </a:defRPr>
            </a:pPr>
            <a:r>
              <a:t>15-Min Dynamic Doppler Feeds</a:t>
            </a:r>
          </a:p>
          <a:p>
            <a:pPr>
              <a:spcBef>
                <a:spcPts val="200"/>
              </a:spcBef>
              <a:defRPr b="1" sz="819">
                <a:solidFill>
                  <a:srgbClr val="2563EB"/>
                </a:solidFill>
              </a:defRPr>
            </a:pPr>
            <a:r>
              <a:t>🔗 mausam.imd.gov.in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427" y="4681728"/>
            <a:ext cx="2716453" cy="9601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524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5867" y="4791456"/>
            <a:ext cx="621792" cy="6217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32523" y="4709160"/>
            <a:ext cx="1911781" cy="8778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950">
                <a:solidFill>
                  <a:srgbClr val="C2410C"/>
                </a:solidFill>
              </a:defRPr>
            </a:pPr>
            <a:r>
              <a:t>NASA Earth Science</a:t>
            </a:r>
          </a:p>
          <a:p>
            <a:pPr>
              <a:spcBef>
                <a:spcPts val="200"/>
              </a:spcBef>
              <a:defRPr b="1" sz="800">
                <a:solidFill>
                  <a:srgbClr val="475569"/>
                </a:solidFill>
              </a:defRPr>
            </a:pPr>
            <a:r>
              <a:t>SRTM 30m Global Elevation DEM</a:t>
            </a:r>
          </a:p>
          <a:p>
            <a:pPr>
              <a:spcBef>
                <a:spcPts val="200"/>
              </a:spcBef>
              <a:defRPr b="1" sz="819">
                <a:solidFill>
                  <a:srgbClr val="2563EB"/>
                </a:solidFill>
              </a:defRPr>
            </a:pPr>
            <a:r>
              <a:t>🔗 earthdata.nasa.gov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8041" y="4681728"/>
            <a:ext cx="2716453" cy="9601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09481" y="4791456"/>
            <a:ext cx="621792" cy="6217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86137" y="4709160"/>
            <a:ext cx="1911781" cy="8778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b="1" sz="950">
                <a:solidFill>
                  <a:srgbClr val="B91C1C"/>
                </a:solidFill>
              </a:defRPr>
            </a:pPr>
            <a:r>
              <a:t>National Disaster Mgmt</a:t>
            </a:r>
          </a:p>
          <a:p>
            <a:pPr>
              <a:spcBef>
                <a:spcPts val="200"/>
              </a:spcBef>
              <a:defRPr b="1" sz="800">
                <a:solidFill>
                  <a:srgbClr val="475569"/>
                </a:solidFill>
              </a:defRPr>
            </a:pPr>
            <a:r>
              <a:t>SACHET CAP v1.2 Protocol</a:t>
            </a:r>
          </a:p>
          <a:p>
            <a:pPr>
              <a:spcBef>
                <a:spcPts val="200"/>
              </a:spcBef>
              <a:defRPr b="1" sz="819">
                <a:solidFill>
                  <a:srgbClr val="2563EB"/>
                </a:solidFill>
              </a:defRPr>
            </a:pPr>
            <a:r>
              <a:t>🔗 sachet.ndma.gov.in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79008"/>
            <a:ext cx="11277295" cy="749808"/>
          </a:xfrm>
          <a:prstGeom prst="roundRect">
            <a:avLst>
              <a:gd name="adj" fmla="val 10000"/>
            </a:avLst>
          </a:prstGeom>
          <a:solidFill>
            <a:srgbClr val="0F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2"/>
            <a:ext cx="1088136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>
              <a:defRPr b="1" sz="1150">
                <a:solidFill>
                  <a:srgbClr val="FFFFFF"/>
                </a:solidFill>
              </a:defRPr>
            </a:pPr>
            <a:r>
              <a:t>SMART INDIA HACKATHON 2026  •  TEAM AEGIS  •  PROBLEM STATEMENT ID: SIH26001</a:t>
            </a:r>
          </a:p>
          <a:p>
            <a:pPr algn="ctr">
              <a:spcBef>
                <a:spcPts val="300"/>
              </a:spcBef>
              <a:defRPr b="1" sz="900">
                <a:solidFill>
                  <a:srgbClr val="CBD5E1"/>
                </a:solidFill>
              </a:defRPr>
            </a:pPr>
            <a:r>
              <a:t>All machine learning pipelines, spatial downscaling algorithms, and Bluetooth mesh architectures comply strictly with Ministry of Mines (GSI), NDMA CAP v1.2, and open scientific reproducibility standards.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