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2801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4F46E5"/>
                </a:solidFill>
              </a:defRPr>
            </a:pPr>
            <a:r>
              <a:t>AEGIS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82880"/>
            <a:ext cx="7619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Georgia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91C1C"/>
                </a:solidFill>
                <a:latin typeface="Arial"/>
              </a:defRPr>
            </a:pPr>
            <a:r>
              <a:t>❖ Ground Reality: The Northeast Crisis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4297680" cy="252374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ndslide_photo_fit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261872"/>
            <a:ext cx="4151376" cy="2377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3785615"/>
            <a:ext cx="4297680" cy="621792"/>
          </a:xfrm>
          <a:prstGeom prst="roundRect">
            <a:avLst>
              <a:gd name="adj" fmla="val 9000"/>
            </a:avLst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b="1" sz="980">
                <a:solidFill>
                  <a:srgbClr val="B91C1C"/>
                </a:solidFill>
              </a:rPr>
              <a:t>Severed NH-44 Highway in Meghalaya: </a:t>
            </a:r>
            <a:r>
              <a:rPr sz="950">
                <a:solidFill>
                  <a:srgbClr val="7F1D1D"/>
                </a:solidFill>
              </a:rPr>
              <a:t>Monsoonal debris flows cut off lifeline supply chains &amp; strand mountain commuters.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480560"/>
            <a:ext cx="4297680" cy="212140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/>
          <a:lstStyle/>
          <a:p>
            <a:pPr algn="ctr">
              <a:defRPr sz="1100" b="1">
                <a:solidFill>
                  <a:srgbClr val="1E293B"/>
                </a:solidFill>
                <a:latin typeface="Arial"/>
              </a:defRPr>
            </a:pPr>
            <a:r>
              <a:t>CRITICAL GROUND STATISTICS &amp; SOURCES</a:t>
            </a:r>
          </a:p>
          <a:p>
            <a:pPr>
              <a:spcBef>
                <a:spcPts val="500"/>
              </a:spcBef>
            </a:pPr>
            <a:r>
              <a:rPr b="1" sz="1019">
                <a:solidFill>
                  <a:srgbClr val="B91C1C"/>
                </a:solidFill>
              </a:rPr>
              <a:t>• 70% Non-Himalayan Fatalities: </a:t>
            </a:r>
            <a:r>
              <a:rPr sz="960">
                <a:solidFill>
                  <a:srgbClr val="334155"/>
                </a:solidFill>
              </a:rPr>
              <a:t>Occur in NER hill tracks annually. </a:t>
            </a:r>
            <a:r>
              <a:rPr sz="860" i="1">
                <a:solidFill>
                  <a:srgbClr val="64748B"/>
                </a:solidFill>
              </a:rPr>
              <a:t>(Source: GSI Landslide Atlas 2023)</a:t>
            </a:r>
          </a:p>
          <a:p>
            <a:pPr>
              <a:spcBef>
                <a:spcPts val="500"/>
              </a:spcBef>
            </a:pPr>
            <a:r>
              <a:rPr b="1" sz="1019">
                <a:solidFill>
                  <a:srgbClr val="B91C1C"/>
                </a:solidFill>
              </a:rPr>
              <a:t>• 4.5 Crore Citizens At Risk: </a:t>
            </a:r>
            <a:r>
              <a:rPr sz="960">
                <a:solidFill>
                  <a:srgbClr val="334155"/>
                </a:solidFill>
              </a:rPr>
              <a:t>Vulnerable across all 8 NER states each monsoon. </a:t>
            </a:r>
            <a:r>
              <a:rPr sz="860" i="1">
                <a:solidFill>
                  <a:srgbClr val="64748B"/>
                </a:solidFill>
              </a:rPr>
              <a:t>(Source: NDMA National Guidelines)</a:t>
            </a:r>
          </a:p>
          <a:p>
            <a:pPr>
              <a:spcBef>
                <a:spcPts val="500"/>
              </a:spcBef>
            </a:pPr>
            <a:r>
              <a:rPr b="1" sz="1019">
                <a:solidFill>
                  <a:srgbClr val="B91C1C"/>
                </a:solidFill>
              </a:rPr>
              <a:t>• 180+ Slips &amp; ₹1,400+ Cr Damage: </a:t>
            </a:r>
            <a:r>
              <a:rPr sz="960">
                <a:solidFill>
                  <a:srgbClr val="334155"/>
                </a:solidFill>
              </a:rPr>
              <a:t>Recorded in 2024 alone on NH-44 &amp; NH-29. </a:t>
            </a:r>
            <a:r>
              <a:rPr sz="860" i="1">
                <a:solidFill>
                  <a:srgbClr val="64748B"/>
                </a:solidFill>
              </a:rPr>
              <a:t>(Source: MDoNER Infrastructure Audit)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8229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Arial"/>
              </a:defRPr>
            </a:pPr>
            <a:r>
              <a:t>❖ AEGIS Solution: Unified 3-Tier System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188720"/>
            <a:ext cx="6858000" cy="54132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0" y="1316736"/>
            <a:ext cx="6583680" cy="347472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TIER 1: REAL-TIME DATA INGESTION &amp; SATELLITE TELEMETRY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719072"/>
            <a:ext cx="2121408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atell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6" y="1828800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41264" y="1810512"/>
            <a:ext cx="1554479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00">
                <a:solidFill>
                  <a:srgbClr val="1E3A8A"/>
                </a:solidFill>
              </a:defRPr>
            </a:pPr>
            <a:r>
              <a:t>NASA SRTM DEM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57216" y="2194560"/>
            <a:ext cx="1865376" cy="256032"/>
          </a:xfrm>
          <a:prstGeom prst="roundRect">
            <a:avLst>
              <a:gd name="adj" fmla="val 25000"/>
            </a:avLst>
          </a:prstGeom>
          <a:solidFill>
            <a:srgbClr val="E0E7FF"/>
          </a:solidFill>
          <a:ln w="952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  <a:latin typeface="Arial"/>
              </a:defRPr>
            </a:pPr>
            <a:r>
              <a:t>30m Elevation Grid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468879"/>
            <a:ext cx="1865376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919" b="1">
                <a:solidFill>
                  <a:srgbClr val="475569"/>
                </a:solidFill>
                <a:latin typeface="Arial"/>
              </a:defRPr>
            </a:pPr>
            <a:r>
              <a:t>Terrain Slope &amp; Curvature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1719072"/>
            <a:ext cx="2121408" cy="105156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875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eath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1828800"/>
            <a:ext cx="329184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0" y="1810512"/>
            <a:ext cx="1554479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00">
                <a:solidFill>
                  <a:srgbClr val="166534"/>
                </a:solidFill>
              </a:defRPr>
            </a:pPr>
            <a:r>
              <a:t>IMD AWS &amp; Radar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88352" y="2194560"/>
            <a:ext cx="1865376" cy="256032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9525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66534"/>
                </a:solidFill>
                <a:latin typeface="Arial"/>
              </a:defRPr>
            </a:pPr>
            <a:r>
              <a:t>Live Doppler Telemetry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352" y="2468879"/>
            <a:ext cx="1865376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919" b="1">
                <a:solidFill>
                  <a:srgbClr val="475569"/>
                </a:solidFill>
                <a:latin typeface="Arial"/>
              </a:defRPr>
            </a:pPr>
            <a:r>
              <a:t>15-Min Dynamic Rainfall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91472" y="1719072"/>
            <a:ext cx="2121408" cy="105156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58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488" y="1828800"/>
            <a:ext cx="329184" cy="329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03536" y="1810512"/>
            <a:ext cx="1554479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00">
                <a:solidFill>
                  <a:srgbClr val="B91C1C"/>
                </a:solidFill>
              </a:defRPr>
            </a:pPr>
            <a:r>
              <a:t>GSI NLSM Atlas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19488" y="2194560"/>
            <a:ext cx="1865376" cy="256032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952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91C1C"/>
                </a:solidFill>
                <a:latin typeface="Arial"/>
              </a:defRPr>
            </a:pPr>
            <a:r>
              <a:t>1:50k Susceptibility 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9488" y="2468879"/>
            <a:ext cx="1865376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919" b="1">
                <a:solidFill>
                  <a:srgbClr val="475569"/>
                </a:solidFill>
                <a:latin typeface="Arial"/>
              </a:defRPr>
            </a:pPr>
            <a:r>
              <a:t>30,842+ Historical Slips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2834640"/>
            <a:ext cx="4572000" cy="237744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4338CA"/>
                </a:solidFill>
                <a:latin typeface="Arial"/>
              </a:defRPr>
            </a:pPr>
            <a:r>
              <a:t>▼  FastAPI Spatial Core Ingestion Stream  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3127248"/>
            <a:ext cx="6583680" cy="347472"/>
          </a:xfrm>
          <a:prstGeom prst="roundRect">
            <a:avLst>
              <a:gd name="adj" fmla="val 12000"/>
            </a:avLst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TIER 2: LANDSLIDENET AI &amp; GEOTECHNICAL PHYSICS ENGINE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3529584"/>
            <a:ext cx="6583680" cy="1115568"/>
          </a:xfrm>
          <a:prstGeom prst="roundRect">
            <a:avLst>
              <a:gd name="adj" fmla="val 6000"/>
            </a:avLst>
          </a:prstGeom>
          <a:solidFill>
            <a:srgbClr val="FAF5FF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072" y="3602736"/>
            <a:ext cx="365760" cy="3657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68696" y="3584448"/>
            <a:ext cx="2651760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6B21A8"/>
                </a:solidFill>
              </a:defRPr>
            </a:pPr>
            <a:r>
              <a:t>LandslideNet ML Core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68696" y="3858768"/>
            <a:ext cx="2560320" cy="237744"/>
          </a:xfrm>
          <a:prstGeom prst="roundRect">
            <a:avLst>
              <a:gd name="adj" fmla="val 25000"/>
            </a:avLst>
          </a:prstGeom>
          <a:solidFill>
            <a:srgbClr val="F3E8FF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6B21A8"/>
                </a:solidFill>
                <a:latin typeface="Arial"/>
              </a:defRPr>
            </a:pPr>
            <a:r>
              <a:t>XGBoost + Random Forest</a:t>
            </a:r>
          </a:p>
        </p:txBody>
      </p:sp>
      <p:pic>
        <p:nvPicPr>
          <p:cNvPr id="33" name="Picture 32" descr="ge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9912" y="3602736"/>
            <a:ext cx="347472" cy="34747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860536" y="3584448"/>
            <a:ext cx="2651760" cy="420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C2410C"/>
                </a:solidFill>
              </a:defRPr>
            </a:pPr>
            <a:r>
              <a:t>Geotechnical Physics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0536" y="3858768"/>
            <a:ext cx="2560320" cy="237744"/>
          </a:xfrm>
          <a:prstGeom prst="roundRect">
            <a:avLst>
              <a:gd name="adj" fmla="val 25000"/>
            </a:avLst>
          </a:prstGeom>
          <a:solidFill>
            <a:srgbClr val="FEEDD5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C2410C"/>
                </a:solidFill>
                <a:latin typeface="Arial"/>
              </a:defRPr>
            </a:pPr>
            <a:r>
              <a:t>Dynamic I-D Rainfall Thresholds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20640" y="4224528"/>
            <a:ext cx="15773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6B21A8"/>
                </a:solidFill>
                <a:latin typeface="Arial"/>
              </a:defRPr>
            </a:pPr>
            <a:r>
              <a:t>89.3% Accuracy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89420" y="4224528"/>
            <a:ext cx="15773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6B21A8"/>
                </a:solidFill>
                <a:latin typeface="Arial"/>
              </a:defRPr>
            </a:pPr>
            <a:r>
              <a:t>0.92 ROC-AUC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58200" y="4224528"/>
            <a:ext cx="15773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6B21A8"/>
                </a:solidFill>
                <a:latin typeface="Arial"/>
              </a:defRPr>
            </a:pPr>
            <a:r>
              <a:t>&lt;1.2s API Speed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26980" y="4224528"/>
            <a:ext cx="15773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6B21A8"/>
                </a:solidFill>
                <a:latin typeface="Arial"/>
              </a:defRPr>
            </a:pPr>
            <a:r>
              <a:t>SHAP Explainability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4700016"/>
            <a:ext cx="4572000" cy="237744"/>
          </a:xfrm>
          <a:prstGeom prst="roundRect">
            <a:avLst>
              <a:gd name="adj" fmla="val 30000"/>
            </a:avLst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C2410C"/>
                </a:solidFill>
                <a:latin typeface="Arial"/>
              </a:defRPr>
            </a:pPr>
            <a:r>
              <a:t>▼  Automated Risk Classification &amp; CAP Dispatch  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0" y="4992624"/>
            <a:ext cx="6583680" cy="347472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TIER 3: MULTI-AGENCY DISASTER ACTION &amp; LAST-MILE ALERTING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0" y="5394959"/>
            <a:ext cx="2121408" cy="10515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587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rad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7216" y="5504688"/>
            <a:ext cx="329184" cy="32918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541264" y="5486399"/>
            <a:ext cx="1554479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00">
                <a:solidFill>
                  <a:srgbClr val="1E3A8A"/>
                </a:solidFill>
              </a:defRPr>
            </a:pPr>
            <a:r>
              <a:t>Command Radar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57216" y="5870448"/>
            <a:ext cx="1865376" cy="256032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952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  <a:latin typeface="Arial"/>
              </a:defRPr>
            </a:pPr>
            <a:r>
              <a:t>District EOCs &amp; DDMAs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57216" y="6144768"/>
            <a:ext cx="1865376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919" b="1">
                <a:solidFill>
                  <a:srgbClr val="475569"/>
                </a:solidFill>
                <a:latin typeface="Arial"/>
              </a:defRPr>
            </a:pPr>
            <a:r>
              <a:t>16-Zone Live Heatmap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60336" y="5394959"/>
            <a:ext cx="2121408" cy="105156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58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resc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8352" y="5504688"/>
            <a:ext cx="329184" cy="32918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772400" y="5486399"/>
            <a:ext cx="1554479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00">
                <a:solidFill>
                  <a:srgbClr val="B91C1C"/>
                </a:solidFill>
              </a:defRPr>
            </a:pPr>
            <a:r>
              <a:t>1-Tap CAP Webhook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88352" y="5870448"/>
            <a:ext cx="1865376" cy="256032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952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91C1C"/>
                </a:solidFill>
                <a:latin typeface="Arial"/>
              </a:defRPr>
            </a:pPr>
            <a:r>
              <a:t>NDRF &amp; SDRF Mobilize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88352" y="6144768"/>
            <a:ext cx="1865376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919" b="1">
                <a:solidFill>
                  <a:srgbClr val="475569"/>
                </a:solidFill>
                <a:latin typeface="Arial"/>
              </a:defRPr>
            </a:pPr>
            <a:r>
              <a:t>Automated Highway Gates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91472" y="5394959"/>
            <a:ext cx="2121408" cy="105156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875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bluetoot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9488" y="5504688"/>
            <a:ext cx="329184" cy="32918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003536" y="5486399"/>
            <a:ext cx="1554479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00">
                <a:solidFill>
                  <a:srgbClr val="166534"/>
                </a:solidFill>
              </a:defRPr>
            </a:pPr>
            <a:r>
              <a:t>Offline BLE Mesh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19488" y="5870448"/>
            <a:ext cx="1865376" cy="256032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9525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66534"/>
                </a:solidFill>
                <a:latin typeface="Arial"/>
              </a:defRPr>
            </a:pPr>
            <a:r>
              <a:t>0 KB Internet Needed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19488" y="6144768"/>
            <a:ext cx="1865376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919" b="1">
                <a:solidFill>
                  <a:srgbClr val="475569"/>
                </a:solidFill>
                <a:latin typeface="Arial"/>
              </a:defRPr>
            </a:pPr>
            <a:r>
              <a:t>12 Tribal Voice Sirens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