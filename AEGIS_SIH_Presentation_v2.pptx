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54864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8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800" b="1">
                <a:solidFill>
                  <a:srgbClr val="1A3C6E"/>
                </a:solidFill>
                <a:latin typeface="Calibri"/>
              </a:defRPr>
            </a:pPr>
            <a:r>
              <a:t>SMART INDIA HACKATHON 2026</a:t>
            </a:r>
          </a:p>
        </p:txBody>
      </p:sp>
      <p:pic>
        <p:nvPicPr>
          <p:cNvPr id="6" name="Picture 5" descr="sih_2026_logo_17885196603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"/>
            <a:ext cx="1463040" cy="1463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280160"/>
            <a:ext cx="7132320" cy="3931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Problem Statement ID-  </a:t>
            </a:r>
            <a:r>
              <a:rPr sz="1600" b="0">
                <a:solidFill>
                  <a:srgbClr val="1E293B"/>
                </a:solidFill>
                <a:latin typeface="Calibri"/>
              </a:rPr>
              <a:t>SIH26001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Problem Statement Title-  </a:t>
            </a:r>
            <a:r>
              <a:rPr sz="1600" b="0">
                <a:solidFill>
                  <a:srgbClr val="1E293B"/>
                </a:solidFill>
                <a:latin typeface="Calibri"/>
              </a:rPr>
              <a:t>AI-Based Early Warning and Landslide Risk Monitoring System in NER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Theme-  </a:t>
            </a:r>
            <a:r>
              <a:rPr sz="1600" b="0">
                <a:solidFill>
                  <a:srgbClr val="1E293B"/>
                </a:solidFill>
                <a:latin typeface="Calibri"/>
              </a:rPr>
              <a:t>Disaster Management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PS Category-  </a:t>
            </a:r>
            <a:r>
              <a:rPr sz="1600" b="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Team ID-  </a:t>
            </a:r>
            <a:r>
              <a:rPr sz="1600" b="0">
                <a:solidFill>
                  <a:srgbClr val="1E293B"/>
                </a:solidFill>
                <a:latin typeface="Calibri"/>
              </a:rPr>
              <a:t/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A3C6E"/>
                </a:solidFill>
                <a:latin typeface="Calibri"/>
              </a:rPr>
              <a:t>•  Team Name-  </a:t>
            </a:r>
            <a:r>
              <a:rPr sz="1600" b="0">
                <a:solidFill>
                  <a:srgbClr val="1E293B"/>
                </a:solidFill>
                <a:latin typeface="Calibri"/>
              </a:rPr>
              <a:t>AEGIS</a:t>
            </a:r>
          </a:p>
        </p:txBody>
      </p:sp>
      <p:pic>
        <p:nvPicPr>
          <p:cNvPr id="9" name="Picture 8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828800"/>
            <a:ext cx="2926080" cy="2926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48640" y="5394960"/>
            <a:ext cx="10972800" cy="36576"/>
          </a:xfrm>
          <a:prstGeom prst="rect">
            <a:avLst/>
          </a:prstGeom>
          <a:solidFill>
            <a:srgbClr val="C59B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Lloyd Institute of Engineering &amp; Technology  |  Team Lead: Harsh Pathak + 5 Members  |  Mentor: Meenakshi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Ministry of Development of North Eastern Region (MDoNER)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CBD5E1"/>
                </a:solidFill>
                <a:latin typeface="Calibri"/>
              </a:defRPr>
            </a:pPr>
            <a:r>
              <a:t>Government of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82880"/>
            <a:ext cx="1371600" cy="475488"/>
          </a:xfrm>
          <a:prstGeom prst="roundRect">
            <a:avLst/>
          </a:prstGeom>
          <a:solidFill>
            <a:srgbClr val="0F244F"/>
          </a:solidFill>
          <a:ln w="1905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1945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91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200" b="1">
                <a:solidFill>
                  <a:srgbClr val="1A3C6E"/>
                </a:solidFill>
                <a:latin typeface="Calibri"/>
              </a:defRPr>
            </a:pPr>
            <a:r>
              <a:t>AEGIS</a:t>
            </a:r>
          </a:p>
        </p:txBody>
      </p:sp>
      <p:pic>
        <p:nvPicPr>
          <p:cNvPr id="8" name="Picture 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0" y="594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600" b="0">
                <a:solidFill>
                  <a:srgbClr val="64748B"/>
                </a:solidFill>
                <a:latin typeface="Calibri"/>
              </a:defRPr>
            </a:pPr>
            <a:r>
              <a:t>NER Landslide Early Warning 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051560"/>
            <a:ext cx="4846320" cy="411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07899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IDEA / PROTOTYPE:</a:t>
            </a:r>
          </a:p>
        </p:txBody>
      </p:sp>
      <p:pic>
        <p:nvPicPr>
          <p:cNvPr id="12" name="Picture 11" descr="aegis_app_mockup_178852037079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914400"/>
            <a:ext cx="3062177" cy="548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114800" y="1691640"/>
            <a:ext cx="7680960" cy="48463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828800"/>
            <a:ext cx="7132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Landslides in NER </a:t>
            </a:r>
            <a:r>
              <a:rPr sz="1300" b="0">
                <a:solidFill>
                  <a:srgbClr val="475569"/>
                </a:solidFill>
                <a:latin typeface="Calibri"/>
              </a:rPr>
              <a:t>are a recurring catastrophe — 70% of India's non-Himalayan landslide fatalities occur across the 8 North Eastern states. Fragile Disang shale formations, world-record rainfall (Sohra/Mawsynram), and young tectonic slopes trigger rapid debris flows every monsoon.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AEGIS (NER-LEWS) </a:t>
            </a:r>
            <a:r>
              <a:rPr sz="1300" b="0">
                <a:solidFill>
                  <a:srgbClr val="475569"/>
                </a:solidFill>
                <a:latin typeface="Calibri"/>
              </a:rPr>
              <a:t>is an AI-powered, multimodal early warning GIS platform that fuses real-time rainfall telemetry, geotechnical hazard models, and automated multi-channel emergency dispatch specifically engineered for NER.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The platform tracks and predicts on a continuous basis:
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1. Dynamic Risk Scoring: </a:t>
            </a:r>
            <a:r>
              <a:rPr sz="1300" b="0">
                <a:solidFill>
                  <a:srgbClr val="475569"/>
                </a:solidFill>
                <a:latin typeface="Calibri"/>
              </a:rPr>
              <a:t>Live 0-100% hazard indices across 16 critical NER zones using LandslideNet v3.2 (XGBoost + RF ensemble) fusing 7 geotechnical factors.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2. Citizen GPS Safety: </a:t>
            </a:r>
            <a:r>
              <a:rPr sz="1300" b="0">
                <a:solidFill>
                  <a:srgbClr val="475569"/>
                </a:solidFill>
                <a:latin typeface="Calibri"/>
              </a:rPr>
              <a:t>Instant 1-click browser geolocation check — tells the user 'YOU ARE SAFE' or 'CRITICAL RISK' with live rainfall, temperature, and evacuation guidance.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3. Autonomous Offline Engine: </a:t>
            </a:r>
            <a:r>
              <a:rPr sz="1300" b="0">
                <a:solidFill>
                  <a:srgbClr val="475569"/>
                </a:solidFill>
                <a:latin typeface="Calibri"/>
              </a:rPr>
              <a:t>Operates 100% without internet using cached AI predictions, hardware satellite GPS, and Bluetooth Low Energy (BLE) P2P mesh networking to relay hazard alerts.</a:t>
            </a:r>
          </a:p>
          <a:p>
            <a:pPr>
              <a:spcAft>
                <a:spcPts val="9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4. Sovereign Emergency Dispatch: </a:t>
            </a:r>
            <a:r>
              <a:rPr sz="1300" b="0">
                <a:solidFill>
                  <a:srgbClr val="475569"/>
                </a:solidFill>
                <a:latin typeface="Calibri"/>
              </a:rPr>
              <a:t>1-click NDRF/SDRF mobilization, highway closure triggers, hospital alerts, and priority SMS cell broadcasts to 1,250+ subscribers.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"/>
            <a:ext cx="1371600" cy="475488"/>
          </a:xfrm>
          <a:prstGeom prst="roundRect">
            <a:avLst/>
          </a:prstGeom>
          <a:solidFill>
            <a:srgbClr val="0F244F"/>
          </a:solidFill>
          <a:ln w="1905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373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TECHNICAL APPROACH</a:t>
            </a:r>
          </a:p>
        </p:txBody>
      </p:sp>
      <p:pic>
        <p:nvPicPr>
          <p:cNvPr id="8" name="Picture 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274320" y="914400"/>
            <a:ext cx="59436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05156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07899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F9933"/>
                </a:solidFill>
                <a:latin typeface="Calibri"/>
              </a:defRPr>
            </a:pPr>
            <a:r>
              <a:t>1. DATA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37160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Open-Meteo REST API (hourly rain gauges)</a:t>
            </a:r>
            <a:br/>
            <a:r>
              <a:t>In-situ IoT Sensors (soil moisture, displacement)</a:t>
            </a:r>
            <a:br/>
            <a:r>
              <a:t>GSI NLSM Historical Susceptibility Shapefiles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240279"/>
            <a:ext cx="182880" cy="137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02920" y="2377439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40487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E40AF"/>
                </a:solidFill>
                <a:latin typeface="Calibri"/>
              </a:defRPr>
            </a:pPr>
            <a:r>
              <a:t>2. AI INFERENCE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9747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LandslideNet v3.2 — XGBoost + RF Ensemble</a:t>
            </a:r>
            <a:br/>
            <a:r>
              <a:t>7-Factor Formula: Rainfall(0.30), Slope(0.20),</a:t>
            </a:r>
            <a:br/>
            <a:r>
              <a:t>Soil(0.18), Lithology(0.12), Seismicity(0.10),</a:t>
            </a:r>
            <a:br/>
            <a:r>
              <a:t>Drainage(0.05), Land Cover(0.05)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3566160"/>
            <a:ext cx="182880" cy="137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0332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307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4CAF50"/>
                </a:solidFill>
                <a:latin typeface="Calibri"/>
              </a:defRPr>
            </a:pPr>
            <a:r>
              <a:t>3. SPATIAL GIS RENDERING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59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React-Leaflet Hardware-Accelerated Vectors</a:t>
            </a:r>
            <a:br/>
            <a:r>
              <a:t>ESRI ArcGIS Topo + Satellite Layers</a:t>
            </a:r>
            <a:br/>
            <a:r>
              <a:t>16 NER Zone Polygons with Live Risk Overlays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892040"/>
            <a:ext cx="182880" cy="13716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5486400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0566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44336"/>
                </a:solidFill>
                <a:latin typeface="Calibri"/>
              </a:defRPr>
            </a:pPr>
            <a:r>
              <a:t>4. ALERT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ntfy.sh Zero-Config Push Webhooks</a:t>
            </a:r>
            <a:br/>
            <a:r>
              <a:t>Priority SMS Cell Broadcast (1,250+)</a:t>
            </a:r>
            <a:br/>
            <a:r>
              <a:t>NDRF/SDRF Mobilization &amp; Highway Gates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914400"/>
            <a:ext cx="5486400" cy="548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0" y="914400"/>
            <a:ext cx="5486400" cy="384048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9418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App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463040"/>
            <a:ext cx="2514600" cy="1874519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83680" y="1463040"/>
            <a:ext cx="2514600" cy="292608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14813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CITIZEN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3408" y="18105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Instant GPS safety check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Live risk score 0-100%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Evacuation route guidance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12 NER regional languages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81160" y="1463040"/>
            <a:ext cx="2514600" cy="1874519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81160" y="1463040"/>
            <a:ext cx="2514600" cy="292608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14813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GOVERNMENT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18105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16-zone GIS risk dashboard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1-click NDRF/SDRF dispatch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Real-time sensor telemetry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Highway closure automation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3520440"/>
            <a:ext cx="2514600" cy="1874519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0" y="3520440"/>
            <a:ext cx="2514600" cy="292608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5387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OFFLINE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3408" y="38679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BLE P2P mesh networking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Cached AI risk predictions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Hardware satellite GPS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Direct SOS calls (no data)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81160" y="3520440"/>
            <a:ext cx="2514600" cy="1874519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281160" y="3520440"/>
            <a:ext cx="2514600" cy="292608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53872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COMMUNITY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90888" y="3867912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Sub-6 MB app size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Zero-database onboarding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100% free open-source</a:t>
            </a:r>
          </a:p>
          <a:p>
            <a:pPr algn="l"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475569"/>
                </a:solidFill>
                <a:latin typeface="Calibri"/>
              </a:defRPr>
            </a:pPr>
            <a:r>
              <a:t>•  Runs on low-end Android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577840"/>
            <a:ext cx="5120640" cy="6400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623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1E40AF"/>
                </a:solidFill>
                <a:latin typeface="Calibri"/>
              </a:defRPr>
            </a:pPr>
            <a:r>
              <a:t>React 18  |  FastAPI  |  XGBoost  |  Leaflet.js  |  Capacitor  |  BLE  |  ntfy.sh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"/>
            <a:ext cx="1371600" cy="475488"/>
          </a:xfrm>
          <a:prstGeom prst="roundRect">
            <a:avLst/>
          </a:prstGeom>
          <a:solidFill>
            <a:srgbClr val="0F244F"/>
          </a:solidFill>
          <a:ln w="1905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373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45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4572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64748B"/>
                </a:solidFill>
                <a:latin typeface="Calibri"/>
              </a:defRPr>
            </a:pPr>
            <a:r>
              <a:t>PROTECTING 4.5 CRORE NER CITIZENS</a:t>
            </a:r>
          </a:p>
        </p:txBody>
      </p:sp>
      <p:pic>
        <p:nvPicPr>
          <p:cNvPr id="9" name="Picture 8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" y="914400"/>
            <a:ext cx="3200400" cy="365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4183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CITIZEN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25880"/>
            <a:ext cx="1143000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1732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1-Click GPS Safety Check: </a:t>
            </a:r>
            <a:r>
              <a:rPr sz="1300" b="0">
                <a:solidFill>
                  <a:srgbClr val="475569"/>
                </a:solidFill>
                <a:latin typeface="Calibri"/>
              </a:rPr>
              <a:t>Instant real-time 'Safe / Critical' verdict for any NER coordinate with live weather data.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12 Regional Languages: </a:t>
            </a:r>
            <a:r>
              <a:rPr sz="1300" b="0">
                <a:solidFill>
                  <a:srgbClr val="475569"/>
                </a:solidFill>
                <a:latin typeface="Calibri"/>
              </a:rPr>
              <a:t>Assamese, Bengali, Khasi, Mizo, Meitei, Nepali — removing language barriers in remote areas.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Offline Survival Engine: </a:t>
            </a:r>
            <a:r>
              <a:rPr sz="1300" b="0">
                <a:solidFill>
                  <a:srgbClr val="475569"/>
                </a:solidFill>
                <a:latin typeface="Calibri"/>
              </a:rPr>
              <a:t>Works 100% in mountain blackouts with cached AI, BLE mesh, direct SOS calls, and hardware GPS.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88920"/>
            <a:ext cx="3200400" cy="36576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1635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GOVERNMENT EMPOWERMENT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200400"/>
            <a:ext cx="11430000" cy="132588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29183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Automated NDRF Dispatch: </a:t>
            </a:r>
            <a:r>
              <a:rPr sz="1300" b="0">
                <a:solidFill>
                  <a:srgbClr val="475569"/>
                </a:solidFill>
                <a:latin typeface="Calibri"/>
              </a:rPr>
              <a:t>1-click mobilization of NDRF 1st Bn Guwahati and State SDRF units with zero manual intervention.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Real-Time GIS Dashboard: </a:t>
            </a:r>
            <a:r>
              <a:rPr sz="1300" b="0">
                <a:solidFill>
                  <a:srgbClr val="475569"/>
                </a:solidFill>
                <a:latin typeface="Calibri"/>
              </a:rPr>
              <a:t>Live 16-zone risk heatmap with sensor telemetry, rainfall overlays for MDoNER officials.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Highway Gate Control: </a:t>
            </a:r>
            <a:r>
              <a:rPr sz="1300" b="0">
                <a:solidFill>
                  <a:srgbClr val="475569"/>
                </a:solidFill>
                <a:latin typeface="Calibri"/>
              </a:rPr>
              <a:t>Automated NH-44/NH-29 closure triggers preventing vehicular casualties during active debris 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663440"/>
            <a:ext cx="3200400" cy="3657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908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COMMUNITY &amp; RURAL REACH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74920"/>
            <a:ext cx="11430000" cy="1325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166359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Sub-6 MB App Size: </a:t>
            </a:r>
            <a:r>
              <a:rPr sz="1300" b="0">
                <a:solidFill>
                  <a:srgbClr val="475569"/>
                </a:solidFill>
                <a:latin typeface="Calibri"/>
              </a:rPr>
              <a:t>Lightweight enough for low-end Android devices common in remote NER districts.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BLE P2P Mesh Network: </a:t>
            </a:r>
            <a:r>
              <a:rPr sz="1300" b="0">
                <a:solidFill>
                  <a:srgbClr val="475569"/>
                </a:solidFill>
                <a:latin typeface="Calibri"/>
              </a:rPr>
              <a:t>Relay emergency packets phone-to-phone without cell towers or internet in disconnected valleys.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1E293B"/>
                </a:solidFill>
                <a:latin typeface="Calibri"/>
              </a:rPr>
              <a:t>•  100% Free &amp; Open Source: </a:t>
            </a:r>
            <a:r>
              <a:rPr sz="1300" b="0">
                <a:solidFill>
                  <a:srgbClr val="475569"/>
                </a:solidFill>
                <a:latin typeface="Calibri"/>
              </a:rPr>
              <a:t>Zero paid APIs used. Built entirely on Open-Meteo, ntfy.sh, ESRI free tiles, and GitHub Actions.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"/>
            <a:ext cx="1371600" cy="475488"/>
          </a:xfrm>
          <a:prstGeom prst="roundRect">
            <a:avLst/>
          </a:prstGeom>
          <a:solidFill>
            <a:srgbClr val="0F244F"/>
          </a:solidFill>
          <a:ln w="1905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373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FEASIBILITY AND VIABILITY</a:t>
            </a:r>
          </a:p>
        </p:txBody>
      </p:sp>
      <p:pic>
        <p:nvPicPr>
          <p:cNvPr id="8" name="Picture 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914400"/>
            <a:ext cx="5303520" cy="548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0058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FEASIBILITY OF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1732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Technical Feasibility: </a:t>
            </a:r>
            <a:r>
              <a:rPr sz="1200" b="0">
                <a:solidFill>
                  <a:srgbClr val="475569"/>
                </a:solidFill>
                <a:latin typeface="Calibri"/>
              </a:rPr>
              <a:t>Lightweight &lt;6 MB APK designed for low-spec Android devices. Works fully offline with cached AI and BLE mesh.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Scientific Rationale: </a:t>
            </a:r>
            <a:r>
              <a:rPr sz="1200" b="0">
                <a:solidFill>
                  <a:srgbClr val="475569"/>
                </a:solidFill>
                <a:latin typeface="Calibri"/>
              </a:rPr>
              <a:t>Based on GSI's NLSM methodology with XGBoost ensemble validated at 89.3% accuracy and 0.92 ROC-AUC score.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Zero-Cost Infrastructure: </a:t>
            </a:r>
            <a:r>
              <a:rPr sz="1200" b="0">
                <a:solidFill>
                  <a:srgbClr val="475569"/>
                </a:solidFill>
                <a:latin typeface="Calibri"/>
              </a:rPr>
              <a:t>Uses only free open-source tools — Open-Meteo (weather), ntfy.sh (push), ESRI free tiles, GitHub Actions CI/CD.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Government Alignment: </a:t>
            </a:r>
            <a:r>
              <a:rPr sz="1200" b="0">
                <a:solidFill>
                  <a:srgbClr val="475569"/>
                </a:solidFill>
                <a:latin typeface="Calibri"/>
              </a:rPr>
              <a:t>Directly addresses MDoNER's disaster risk reduction mandate. Compatible with NDRF, SDRF, and IMD frameworks.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High Scalability: </a:t>
            </a:r>
            <a:r>
              <a:rPr sz="1200" b="0">
                <a:solidFill>
                  <a:srgbClr val="475569"/>
                </a:solidFill>
                <a:latin typeface="Calibri"/>
              </a:rPr>
              <a:t>Modular architecture supports expansion to all 8 NER states and integration with ISRO MOSDAC satellite feeds.</a:t>
            </a:r>
          </a:p>
          <a:p>
            <a:pPr>
              <a:spcAft>
                <a:spcPts val="1400"/>
              </a:spcAft>
            </a:pPr>
            <a:r>
              <a:rPr sz="1200" b="1">
                <a:solidFill>
                  <a:srgbClr val="1E293B"/>
                </a:solidFill>
                <a:latin typeface="Calibri"/>
              </a:rPr>
              <a:t>Rural-First Design: </a:t>
            </a:r>
            <a:r>
              <a:rPr sz="1200" b="0">
                <a:solidFill>
                  <a:srgbClr val="475569"/>
                </a:solidFill>
                <a:latin typeface="Calibri"/>
              </a:rPr>
              <a:t>12 NER languages, high-contrast UI, voice-first navigation, one-time zero-database local onboarding.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914400"/>
            <a:ext cx="1920240" cy="54864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0" y="914400"/>
            <a:ext cx="1920240" cy="59436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Offline-First</a:t>
            </a:r>
            <a:br/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100% autonomous in zero-network valleys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Flash-cached AI risk predictions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BLE P2P gossip mesh relay protocol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Hardware satellite GPS positioning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914400"/>
            <a:ext cx="1920240" cy="54864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914400"/>
            <a:ext cx="1920240" cy="5943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Multi-Modal</a:t>
            </a:r>
            <a:br/>
            <a:r>
              <a:t>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7-factor geotechnical hazard formula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Live Open-Meteo rainfall fusion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SHAP explainability for transparency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4-6 hour advance warning capability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914400"/>
            <a:ext cx="1920240" cy="54864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149840" y="914400"/>
            <a:ext cx="1920240" cy="5943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0" y="96012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Sovereign</a:t>
            </a:r>
            <a:br/>
            <a:r>
              <a:t>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600200"/>
            <a:ext cx="1737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Automated NDRF/SDRF mobilization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Highway closure gate triggers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Priority SMS to 1,250+ citizens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• Zero paid API dependencies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CBD5E1"/>
                </a:solidFill>
                <a:latin typeface="Calibri"/>
              </a:defRPr>
            </a:pPr>
            <a:r>
              <a:t>Team AEGIS  |  SIH26001  |  MDoNER  |  Disaster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900" b="0">
                <a:solidFill>
                  <a:srgbClr val="C59B27"/>
                </a:solidFill>
                <a:latin typeface="Calibri"/>
              </a:defRPr>
            </a:pPr>
            <a:r>
              <a:t>Lloyd Institute of Engineering &amp;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36576"/>
          </a:xfrm>
          <a:prstGeom prst="rect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36576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37160"/>
            <a:ext cx="1371600" cy="475488"/>
          </a:xfrm>
          <a:prstGeom prst="roundRect">
            <a:avLst/>
          </a:prstGeom>
          <a:solidFill>
            <a:srgbClr val="0F244F"/>
          </a:solidFill>
          <a:ln w="19050">
            <a:solidFill>
              <a:srgbClr val="335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73736"/>
            <a:ext cx="402336" cy="4023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91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200" b="1">
                <a:solidFill>
                  <a:srgbClr val="1A3C6E"/>
                </a:solidFill>
                <a:latin typeface="Calibri"/>
              </a:defRPr>
            </a:pPr>
            <a:r>
              <a:t>RESEARCH AND REFERENCES</a:t>
            </a:r>
          </a:p>
        </p:txBody>
      </p:sp>
      <p:pic>
        <p:nvPicPr>
          <p:cNvPr id="8" name="Picture 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73152"/>
            <a:ext cx="777240" cy="777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760" y="914400"/>
            <a:ext cx="5669280" cy="3840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051560"/>
            <a:ext cx="5212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1.  70% Landslide Fatalities: </a:t>
            </a:r>
            <a:r>
              <a:rPr sz="1200" b="0">
                <a:solidFill>
                  <a:srgbClr val="475569"/>
                </a:solidFill>
                <a:latin typeface="Calibri"/>
              </a:rPr>
              <a:t>NER accounts for the majority of non-Himalayan landslide deaths in India. (Source: GSI Landslide Atlas 2023)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2.  4.5 Crore Affected: </a:t>
            </a:r>
            <a:r>
              <a:rPr sz="1200" b="0">
                <a:solidFill>
                  <a:srgbClr val="475569"/>
                </a:solidFill>
                <a:latin typeface="Calibri"/>
              </a:rPr>
              <a:t>Over 45 million citizens across 8 NER states face recurring monsoon landslide risk annually.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3.  Rs 1,400+ Cr Damage: </a:t>
            </a:r>
            <a:r>
              <a:rPr sz="1200" b="0">
                <a:solidFill>
                  <a:srgbClr val="475569"/>
                </a:solidFill>
                <a:latin typeface="Calibri"/>
              </a:rPr>
              <a:t>Highway infrastructure loss from slope failures along NH-44, NH-29, and BG railway. (2024 data)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4.  Sohra/Mawsynram Records: </a:t>
            </a:r>
            <a:r>
              <a:rPr sz="1200" b="0">
                <a:solidFill>
                  <a:srgbClr val="475569"/>
                </a:solidFill>
                <a:latin typeface="Calibri"/>
              </a:rPr>
              <a:t>World's highest rainfall zones averaging 11,872 mm/year are in Meghalaya, NER.</a:t>
            </a:r>
          </a:p>
          <a:p>
            <a:pPr>
              <a:spcAft>
                <a:spcPts val="1200"/>
              </a:spcAft>
            </a:pPr>
            <a:r>
              <a:rPr sz="1200" b="1">
                <a:solidFill>
                  <a:srgbClr val="1A3C6E"/>
                </a:solidFill>
                <a:latin typeface="Calibri"/>
              </a:rPr>
              <a:t>5.  Zero Real-Time Tools: </a:t>
            </a:r>
            <a:r>
              <a:rPr sz="1200" b="0">
                <a:solidFill>
                  <a:srgbClr val="475569"/>
                </a:solidFill>
                <a:latin typeface="Calibri"/>
              </a:rPr>
              <a:t>Current GSI susceptibility maps are static PDFs with no live rainfall integration or citizen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914400"/>
            <a:ext cx="5486400" cy="3840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05156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1E293B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1.  Geological Survey of India (GSI) — NLSM 2023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2.  MDoNER — Annual Report 2024-25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3.  Open-Meteo API — api.open-meteo.com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4.  NDRF/SDRF Operational Guidelines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5.  IMD — Rainfall &amp; Seismic Records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6.  ISRO MOSDAC — mosdac.gov.in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7.  ESRI ArcGIS — Topo/Satellite Basemaps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8.  Kumar et al. (2022) — ML Susceptibility in NER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475569"/>
                </a:solidFill>
                <a:latin typeface="Calibri"/>
              </a:defRPr>
            </a:pPr>
            <a:r>
              <a:t>9.  Basu &amp; Ghosh (2021) — Rainfall-Induced Prediction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937760"/>
            <a:ext cx="11430000" cy="685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1091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"AEGIS aims to make landslide early warning accessible, autonomous, and life-saving for every citizen in North Eastern India."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5715000"/>
            <a:ext cx="5760720" cy="7772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576072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800" b="1">
                <a:solidFill>
                  <a:srgbClr val="C59B27"/>
                </a:solidFill>
                <a:latin typeface="Calibri"/>
              </a:defRPr>
            </a:pPr>
            <a:r>
              <a:t>THANK YOU</a:t>
            </a:r>
          </a:p>
        </p:txBody>
      </p:sp>
      <p:pic>
        <p:nvPicPr>
          <p:cNvPr id="17" name="Picture 16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5760720"/>
            <a:ext cx="685800" cy="685800"/>
          </a:xfrm>
          <a:prstGeom prst="rect">
            <a:avLst/>
          </a:prstGeom>
        </p:spPr>
      </p:pic>
      <p:pic>
        <p:nvPicPr>
          <p:cNvPr id="18" name="Picture 17" descr="sih_2026_logo_17885196603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715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