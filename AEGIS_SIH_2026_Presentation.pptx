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54864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200"/>
              </a:spcAft>
              <a:defRPr sz="3600" b="1">
                <a:solidFill>
                  <a:srgbClr val="1A3C6E"/>
                </a:solidFill>
                <a:latin typeface="Calibri"/>
              </a:defRPr>
            </a:pPr>
            <a:r>
              <a:t>SMART INDIA HACKATHON 2026</a:t>
            </a:r>
          </a:p>
        </p:txBody>
      </p:sp>
      <p:pic>
        <p:nvPicPr>
          <p:cNvPr id="6" name="Picture 5" descr="sih_2026_logo_17885196603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37160"/>
            <a:ext cx="1188720" cy="1188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188720"/>
            <a:ext cx="685800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6217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A3C6E"/>
                </a:solidFill>
                <a:latin typeface="Calibri"/>
              </a:rPr>
              <a:t>•  Problem Statement ID-  </a:t>
            </a:r>
            <a:r>
              <a:rPr sz="1500" b="0">
                <a:solidFill>
                  <a:srgbClr val="1E293B"/>
                </a:solidFill>
                <a:latin typeface="Calibri"/>
              </a:rPr>
              <a:t>SIH26001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A3C6E"/>
                </a:solidFill>
                <a:latin typeface="Calibri"/>
              </a:rPr>
              <a:t>•  Problem Statement Title-  </a:t>
            </a:r>
            <a:r>
              <a:rPr sz="1500" b="0">
                <a:solidFill>
                  <a:srgbClr val="1E293B"/>
                </a:solidFill>
                <a:latin typeface="Calibri"/>
              </a:rPr>
              <a:t>AI-Based Early Warning and Landslide Risk Monitoring System in NER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A3C6E"/>
                </a:solidFill>
                <a:latin typeface="Calibri"/>
              </a:rPr>
              <a:t>•  Theme-  </a:t>
            </a:r>
            <a:r>
              <a:rPr sz="1500" b="0">
                <a:solidFill>
                  <a:srgbClr val="1E293B"/>
                </a:solidFill>
                <a:latin typeface="Calibri"/>
              </a:rPr>
              <a:t>Disaster Management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A3C6E"/>
                </a:solidFill>
                <a:latin typeface="Calibri"/>
              </a:rPr>
              <a:t>•  PS Category-  </a:t>
            </a:r>
            <a:r>
              <a:rPr sz="1500" b="0">
                <a:solidFill>
                  <a:srgbClr val="1E293B"/>
                </a:solidFill>
                <a:latin typeface="Calibri"/>
              </a:rPr>
              <a:t>Software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A3C6E"/>
                </a:solidFill>
                <a:latin typeface="Calibri"/>
              </a:rPr>
              <a:t>•  Team Name-  </a:t>
            </a:r>
            <a:r>
              <a:rPr sz="1500" b="0">
                <a:solidFill>
                  <a:srgbClr val="1E293B"/>
                </a:solidFill>
                <a:latin typeface="Calibri"/>
              </a:rPr>
              <a:t>AEGIS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A3C6E"/>
                </a:solidFill>
                <a:latin typeface="Calibri"/>
              </a:rPr>
              <a:t>•  Institute-  </a:t>
            </a:r>
            <a:r>
              <a:rPr sz="1500" b="0">
                <a:solidFill>
                  <a:srgbClr val="1E293B"/>
                </a:solidFill>
                <a:latin typeface="Calibri"/>
              </a:rPr>
              <a:t>Lloyd Institute of Engineering &amp; Technology</a:t>
            </a:r>
          </a:p>
        </p:txBody>
      </p:sp>
      <p:pic>
        <p:nvPicPr>
          <p:cNvPr id="9" name="Picture 8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645920"/>
            <a:ext cx="2560320" cy="2560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5029200"/>
            <a:ext cx="10058400" cy="36576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Team Lead: Harsh Pathak  |  Mentor: Meenakshi  |  6 Core Members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Ministry of Development of North Eastern Region (MDoNER)  |  Govt. of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54864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5943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"/>
            <a:ext cx="12191695" cy="36576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"/>
            <a:ext cx="1188720" cy="457200"/>
          </a:xfrm>
          <a:prstGeom prst="roundRect">
            <a:avLst/>
          </a:prstGeom>
          <a:solidFill>
            <a:srgbClr val="0D1B3E"/>
          </a:solidFill>
          <a:ln w="12700">
            <a:solidFill>
              <a:srgbClr val="33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4592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37360" y="100584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AEGIS  —  NER LANDSLIDE EARLY WARNING SYSTEM</a:t>
            </a:r>
          </a:p>
        </p:txBody>
      </p:sp>
      <p:pic>
        <p:nvPicPr>
          <p:cNvPr id="10" name="Picture 9" descr="sih_2026_logo_17885196603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73152"/>
            <a:ext cx="566928" cy="56692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3854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CBD5E1"/>
                </a:solidFill>
                <a:latin typeface="Calibri"/>
              </a:defRPr>
            </a:pPr>
            <a:r>
              <a:t>Team AEGIS  |  SIH26001  |  MDoNER  |  Disaster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63854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C59B27"/>
                </a:solidFill>
                <a:latin typeface="Calibri"/>
              </a:defRPr>
            </a:pPr>
            <a:r>
              <a:t>Lloyd Institute of Engineering &amp; Technology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1A3C6E"/>
                </a:solidFill>
                <a:latin typeface="Calibri"/>
              </a:defRPr>
            </a:pPr>
            <a:r>
              <a:t>IDEA / PROTOTYPE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463040"/>
            <a:ext cx="54864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1463040"/>
            <a:ext cx="5486400" cy="411480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4904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THE CRISIS IN 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•  70% of India's non-Himalayan landslide fatalities </a:t>
            </a:r>
            <a:r>
              <a:rPr sz="1200" b="0">
                <a:solidFill>
                  <a:srgbClr val="475569"/>
                </a:solidFill>
                <a:latin typeface="Calibri"/>
              </a:rPr>
              <a:t>occur in the North Eastern Region.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•  4.5 crore citizens affected </a:t>
            </a:r>
            <a:r>
              <a:rPr sz="1200" b="0">
                <a:solidFill>
                  <a:srgbClr val="475569"/>
                </a:solidFill>
                <a:latin typeface="Calibri"/>
              </a:rPr>
              <a:t>across 8 NER states with zero real-time hazard tools.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•  180+ fatal slope failures in 2024 alone, </a:t>
            </a:r>
            <a:r>
              <a:rPr sz="1200" b="0">
                <a:solidFill>
                  <a:srgbClr val="475569"/>
                </a:solidFill>
                <a:latin typeface="Calibri"/>
              </a:rPr>
              <a:t>Rs 1,400+ Cr in highway damage.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•  NH-44 (Meghalaya) &amp; NH-29 (Nagaland) </a:t>
            </a:r>
            <a:r>
              <a:rPr sz="1200" b="0">
                <a:solidFill>
                  <a:srgbClr val="475569"/>
                </a:solidFill>
                <a:latin typeface="Calibri"/>
              </a:rPr>
              <a:t>severed for weeks every monsoon cutting off remote communities.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•  Current GSI maps are static PDFs </a:t>
            </a:r>
            <a:r>
              <a:rPr sz="1200" b="0">
                <a:solidFill>
                  <a:srgbClr val="475569"/>
                </a:solidFill>
                <a:latin typeface="Calibri"/>
              </a:rPr>
              <a:t>with zero live rainfall response. Citizens have no tool to check real-time safety.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463040"/>
            <a:ext cx="54864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1463040"/>
            <a:ext cx="5486400" cy="41148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4904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OUR SOLUTION: AEGIS (NER-LEWS)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A3C6E"/>
                </a:solidFill>
                <a:latin typeface="Calibri"/>
              </a:rPr>
              <a:t>•  Dynamic Geotechnical AI (LandslideNet v3.2): </a:t>
            </a:r>
            <a:r>
              <a:rPr sz="1200" b="0">
                <a:solidFill>
                  <a:srgbClr val="475569"/>
                </a:solidFill>
                <a:latin typeface="Calibri"/>
              </a:rPr>
              <a:t>Fuses live rainfall, pore-water pressure, slope angles into XGBoost + RF ensemble yielding 0-100% live risk scores.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A3C6E"/>
                </a:solidFill>
                <a:latin typeface="Calibri"/>
              </a:rPr>
              <a:t>•  1-Click Citizen GPS Safety: </a:t>
            </a:r>
            <a:r>
              <a:rPr sz="1200" b="0">
                <a:solidFill>
                  <a:srgbClr val="475569"/>
                </a:solidFill>
                <a:latin typeface="Calibri"/>
              </a:rPr>
              <a:t>Instant browser geolocation check — 'YOU ARE SAFE' vs 'CRITICAL RISK' with live rain, temp, and evacuation guidance.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A3C6E"/>
                </a:solidFill>
                <a:latin typeface="Calibri"/>
              </a:rPr>
              <a:t>•  Automated Emergency Dispatch: </a:t>
            </a:r>
            <a:r>
              <a:rPr sz="1200" b="0">
                <a:solidFill>
                  <a:srgbClr val="475569"/>
                </a:solidFill>
                <a:latin typeface="Calibri"/>
              </a:rPr>
              <a:t>1-click NDRF mobilization, NH highway closures, hospital alerts, and priority SMS cell broadcasts.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A3C6E"/>
                </a:solidFill>
                <a:latin typeface="Calibri"/>
              </a:rPr>
              <a:t>•  Indestructible Offline Engine: </a:t>
            </a:r>
            <a:r>
              <a:rPr sz="1200" b="0">
                <a:solidFill>
                  <a:srgbClr val="475569"/>
                </a:solidFill>
                <a:latin typeface="Calibri"/>
              </a:rPr>
              <a:t>100% autonomous in mountain blackouts using device flash cache, hardware GPS, and BLE P2P mesh networking.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A3C6E"/>
                </a:solidFill>
                <a:latin typeface="Calibri"/>
              </a:rPr>
              <a:t>•  12 NER Languages: </a:t>
            </a:r>
            <a:r>
              <a:rPr sz="1200" b="0">
                <a:solidFill>
                  <a:srgbClr val="475569"/>
                </a:solidFill>
                <a:latin typeface="Calibri"/>
              </a:rPr>
              <a:t>Assamese, Bengali, Khasi, Mizo, Meitei, Nepali, Nagamese, Bodo, Kokborok, Garo, Hindi, and English.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54864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5943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"/>
            <a:ext cx="12191695" cy="36576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"/>
            <a:ext cx="1188720" cy="457200"/>
          </a:xfrm>
          <a:prstGeom prst="roundRect">
            <a:avLst/>
          </a:prstGeom>
          <a:solidFill>
            <a:srgbClr val="0D1B3E"/>
          </a:solidFill>
          <a:ln w="12700">
            <a:solidFill>
              <a:srgbClr val="33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4592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37360" y="100584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TECHNICAL APPROACH</a:t>
            </a:r>
          </a:p>
        </p:txBody>
      </p:sp>
      <p:pic>
        <p:nvPicPr>
          <p:cNvPr id="10" name="Picture 9" descr="sih_2026_logo_17885196603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73152"/>
            <a:ext cx="566928" cy="56692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3854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CBD5E1"/>
                </a:solidFill>
                <a:latin typeface="Calibri"/>
              </a:defRPr>
            </a:pPr>
            <a:r>
              <a:t>Team AEGIS  |  SIH26001  |  MDoNER  |  Disaster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63854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C59B27"/>
                </a:solidFill>
                <a:latin typeface="Calibri"/>
              </a:defRPr>
            </a:pPr>
            <a:r>
              <a:t>Lloyd Institute of Engineering &amp; Technology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868680"/>
            <a:ext cx="5669280" cy="5486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" y="868680"/>
            <a:ext cx="5669280" cy="384048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8869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4-TIER DATA PIPELINE 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1417320"/>
            <a:ext cx="52120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8C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1463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1">
                <a:solidFill>
                  <a:srgbClr val="F48C06"/>
                </a:solidFill>
                <a:latin typeface="Calibri"/>
              </a:defRPr>
            </a:pPr>
            <a:r>
              <a:t>1. DATA INGESTION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17373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Open-Meteo REST API (hourly rain gauges) + In-situ IoT sensors + GSI NLSM historical susceptibility shapefiles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2651760"/>
            <a:ext cx="52120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697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1">
                <a:solidFill>
                  <a:srgbClr val="1E40AF"/>
                </a:solidFill>
                <a:latin typeface="Calibri"/>
              </a:defRPr>
            </a:pPr>
            <a:r>
              <a:t>2. AI INFERENCE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9718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LandslideNet v3.2 — XGBoost + Random Forest ensemble with SHAP feature attribution. 7-factor weighted formula: Rainfall (0.30), Slope (0.20), Soil Saturation (0.18), Lithology (0.12), Seismicity (0.10), Drainage (0.05), Land Cover (0.05)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886200"/>
            <a:ext cx="52120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931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1">
                <a:solidFill>
                  <a:srgbClr val="15803D"/>
                </a:solidFill>
                <a:latin typeface="Calibri"/>
              </a:defRPr>
            </a:pPr>
            <a:r>
              <a:t>3. SPATIAL GIS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2062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React-Leaflet hardware-accelerated vectors with ESRI World Topo &amp; Satellite layers. 16 NER zone polygons with live color-coded risk overlays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120640"/>
            <a:ext cx="52120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16635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1">
                <a:solidFill>
                  <a:srgbClr val="B91C1C"/>
                </a:solidFill>
                <a:latin typeface="Calibri"/>
              </a:defRPr>
            </a:pPr>
            <a:r>
              <a:t>4. DISPATCH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440679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Zero-config ntfy.sh webhooks, automated priority SMS broadcasts, NDRF/SDRF mobilization triggers, highway closure gates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868680"/>
            <a:ext cx="5486400" cy="5486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09360" y="868680"/>
            <a:ext cx="5486400" cy="384048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886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1527048"/>
            <a:ext cx="109728" cy="109728"/>
          </a:xfrm>
          <a:prstGeom prst="rect">
            <a:avLst/>
          </a:prstGeom>
          <a:solidFill>
            <a:srgbClr val="F48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141732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48C06"/>
                </a:solidFill>
                <a:latin typeface="Calibri"/>
              </a:rPr>
              <a:t>Frontend:  </a:t>
            </a:r>
            <a:r>
              <a:rPr sz="1100" b="0">
                <a:solidFill>
                  <a:srgbClr val="475569"/>
                </a:solidFill>
                <a:latin typeface="Calibri"/>
              </a:rPr>
              <a:t>React 18, Vite 5, React-Leaflet 4, Axios, Tailwind CSS, Capacitor (Mobile)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1920240"/>
            <a:ext cx="50292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37960" y="2121408"/>
            <a:ext cx="109728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0" y="201168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E40AF"/>
                </a:solidFill>
                <a:latin typeface="Calibri"/>
              </a:rPr>
              <a:t>Backend:  </a:t>
            </a:r>
            <a:r>
              <a:rPr sz="1100" b="0">
                <a:solidFill>
                  <a:srgbClr val="475569"/>
                </a:solidFill>
                <a:latin typeface="Calibri"/>
              </a:rPr>
              <a:t>FastAPI (Python), SQLAlchemy, Pydantic, httpx, Uvicorn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60" y="2514600"/>
            <a:ext cx="50292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37960" y="2715768"/>
            <a:ext cx="109728" cy="10972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260604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5803D"/>
                </a:solidFill>
                <a:latin typeface="Calibri"/>
              </a:rPr>
              <a:t>AI / ML:  </a:t>
            </a:r>
            <a:r>
              <a:rPr sz="1100" b="0">
                <a:solidFill>
                  <a:srgbClr val="475569"/>
                </a:solidFill>
                <a:latin typeface="Calibri"/>
              </a:rPr>
              <a:t>XGBoost, Random Forest, SHAP Explainability, Open-Meteo Telemetry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37960" y="3108960"/>
            <a:ext cx="50292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37960" y="3310128"/>
            <a:ext cx="10972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0" y="320040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Calibri"/>
              </a:rPr>
              <a:t>GIS &amp; Maps:  </a:t>
            </a:r>
            <a:r>
              <a:rPr sz="1100" b="0">
                <a:solidFill>
                  <a:srgbClr val="475569"/>
                </a:solidFill>
                <a:latin typeface="Calibri"/>
              </a:rPr>
              <a:t>Leaflet.js, ESRI ArcGIS Topo + Satellite Tiles, GeoJSON Polygons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37960" y="3703320"/>
            <a:ext cx="50292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37960" y="3904488"/>
            <a:ext cx="109728" cy="10972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0" y="379476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Mobile:  </a:t>
            </a:r>
            <a:r>
              <a:rPr sz="1100" b="0">
                <a:solidFill>
                  <a:srgbClr val="475569"/>
                </a:solidFill>
                <a:latin typeface="Calibri"/>
              </a:rPr>
              <a:t>Capacitor Android, BLE Web Bluetooth API, localStorage, Service Workers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37960" y="4297680"/>
            <a:ext cx="50292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37960" y="4498848"/>
            <a:ext cx="109728" cy="109728"/>
          </a:xfrm>
          <a:prstGeom prst="rect">
            <a:avLst/>
          </a:prstGeom>
          <a:solidFill>
            <a:srgbClr val="0F2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60" y="438912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0F244F"/>
                </a:solidFill>
                <a:latin typeface="Calibri"/>
              </a:rPr>
              <a:t>Deployment:  </a:t>
            </a:r>
            <a:r>
              <a:rPr sz="1100" b="0">
                <a:solidFill>
                  <a:srgbClr val="475569"/>
                </a:solidFill>
                <a:latin typeface="Calibri"/>
              </a:rPr>
              <a:t>Netlify (Web), GitHub Actions CI/CD (APK), ntfy.sh (Push Alerts)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37960" y="4892040"/>
            <a:ext cx="50292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37960" y="5093208"/>
            <a:ext cx="109728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66560" y="498348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Offline Mesh:  </a:t>
            </a:r>
            <a:r>
              <a:rPr sz="1100" b="0">
                <a:solidFill>
                  <a:srgbClr val="475569"/>
                </a:solidFill>
                <a:latin typeface="Calibri"/>
              </a:rPr>
              <a:t>BLE P2P Gossip Protocol, Flash Cache, Hardware Satellite GPS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92240" y="5486400"/>
            <a:ext cx="5120640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0" y="553212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</a:p>
          <a:p>
            <a:pPr algn="ctr"/>
            <a:r>
              <a:rPr sz="1200" b="1">
                <a:solidFill>
                  <a:srgbClr val="1E40AF"/>
                </a:solidFill>
                <a:latin typeface="Calibri"/>
              </a:rPr>
              <a:t>Model Accuracy: 89.3%   |   ROC-AUC: 0.92   |   False Positive: 7.2%   |   Alert Latency: 2.3s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54864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5943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"/>
            <a:ext cx="12191695" cy="36576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"/>
            <a:ext cx="1188720" cy="457200"/>
          </a:xfrm>
          <a:prstGeom prst="roundRect">
            <a:avLst/>
          </a:prstGeom>
          <a:solidFill>
            <a:srgbClr val="0D1B3E"/>
          </a:solidFill>
          <a:ln w="12700">
            <a:solidFill>
              <a:srgbClr val="33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4592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37360" y="100584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IMPACT AND BENEFITS</a:t>
            </a:r>
          </a:p>
        </p:txBody>
      </p:sp>
      <p:pic>
        <p:nvPicPr>
          <p:cNvPr id="10" name="Picture 9" descr="sih_2026_logo_17885196603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73152"/>
            <a:ext cx="566928" cy="56692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3854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CBD5E1"/>
                </a:solidFill>
                <a:latin typeface="Calibri"/>
              </a:defRPr>
            </a:pPr>
            <a:r>
              <a:t>Team AEGIS  |  SIH26001  |  MDoNER  |  Disaster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63854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C59B27"/>
                </a:solidFill>
                <a:latin typeface="Calibri"/>
              </a:defRPr>
            </a:pPr>
            <a:r>
              <a:t>Lloyd Institute of Engineering &amp; Technology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77724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spcAft>
                <a:spcPts val="200"/>
              </a:spcAft>
              <a:defRPr sz="2000" b="1">
                <a:solidFill>
                  <a:srgbClr val="1A3C6E"/>
                </a:solidFill>
                <a:latin typeface="Calibri"/>
              </a:defRPr>
            </a:pPr>
            <a:r>
              <a:t>PROTECTING 4.5 CRORE NER CITIZENS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1325880"/>
            <a:ext cx="36576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" y="1325880"/>
            <a:ext cx="3657600" cy="41148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3533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CITIZEN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1874519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14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 1-Click GPS Safety Check: </a:t>
            </a:r>
            <a:r>
              <a:rPr sz="1100" b="0">
                <a:solidFill>
                  <a:srgbClr val="475569"/>
                </a:solidFill>
                <a:latin typeface="Calibri"/>
              </a:rPr>
              <a:t>Instant 'Safe / Critical' verdict for any NER coordinate with live weather data.</a:t>
            </a:r>
          </a:p>
          <a:p>
            <a:pPr>
              <a:spcAft>
                <a:spcPts val="14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 12 Regional Languages: </a:t>
            </a:r>
            <a:r>
              <a:rPr sz="1100" b="0">
                <a:solidFill>
                  <a:srgbClr val="475569"/>
                </a:solidFill>
                <a:latin typeface="Calibri"/>
              </a:rPr>
              <a:t>Assamese, Bengali, Khasi, Mizo, Meitei, Nepali — removing language barriers.</a:t>
            </a:r>
          </a:p>
          <a:p>
            <a:pPr>
              <a:spcAft>
                <a:spcPts val="14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 Offline Survival Engine: </a:t>
            </a:r>
            <a:r>
              <a:rPr sz="1100" b="0">
                <a:solidFill>
                  <a:srgbClr val="475569"/>
                </a:solidFill>
                <a:latin typeface="Calibri"/>
              </a:rPr>
              <a:t>Works 100% in mountain blackouts with cached AI, BLE mesh, and direct SOS calls.</a:t>
            </a:r>
          </a:p>
          <a:p>
            <a:pPr>
              <a:spcAft>
                <a:spcPts val="14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 Pre-Downloaded AI Cache: </a:t>
            </a:r>
            <a:r>
              <a:rPr sz="1100" b="0">
                <a:solidFill>
                  <a:srgbClr val="475569"/>
                </a:solidFill>
                <a:latin typeface="Calibri"/>
              </a:rPr>
              <a:t>Flash-stored risk matrices for Jaintia Hills, Sohra, Sikkim, Haflong, Aizawl.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1325880"/>
            <a:ext cx="36576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51960" y="1325880"/>
            <a:ext cx="3657600" cy="4114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3533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GOVERNMENT EMPOWERMENT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1874519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14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 Automated NDRF Dispatch: </a:t>
            </a:r>
            <a:r>
              <a:rPr sz="1100" b="0">
                <a:solidFill>
                  <a:srgbClr val="475569"/>
                </a:solidFill>
                <a:latin typeface="Calibri"/>
              </a:rPr>
              <a:t>1-click mobilization of NDRF 1st Bn Guwahati and State SDRF units.</a:t>
            </a:r>
          </a:p>
          <a:p>
            <a:pPr>
              <a:spcAft>
                <a:spcPts val="14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 Highway Gate Control: </a:t>
            </a:r>
            <a:r>
              <a:rPr sz="1100" b="0">
                <a:solidFill>
                  <a:srgbClr val="475569"/>
                </a:solidFill>
                <a:latin typeface="Calibri"/>
              </a:rPr>
              <a:t>Automated NH-44/NH-29 closure triggers preventing vehicular casualties.</a:t>
            </a:r>
          </a:p>
          <a:p>
            <a:pPr>
              <a:spcAft>
                <a:spcPts val="14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 Real-Time GIS Dashboard: </a:t>
            </a:r>
            <a:r>
              <a:rPr sz="1100" b="0">
                <a:solidFill>
                  <a:srgbClr val="475569"/>
                </a:solidFill>
                <a:latin typeface="Calibri"/>
              </a:rPr>
              <a:t>Live 16-zone risk heatmap with sensor telemetry for MDoNER officials.</a:t>
            </a:r>
          </a:p>
          <a:p>
            <a:pPr>
              <a:spcAft>
                <a:spcPts val="14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 Multi-Channel Alerts: </a:t>
            </a:r>
            <a:r>
              <a:rPr sz="1100" b="0">
                <a:solidFill>
                  <a:srgbClr val="475569"/>
                </a:solidFill>
                <a:latin typeface="Calibri"/>
              </a:rPr>
              <a:t>Priority SMS, push notifications, and cell broadcast to 1,250+ subscribers.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325880"/>
            <a:ext cx="36576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38160" y="1325880"/>
            <a:ext cx="3657600" cy="411480"/>
          </a:xfrm>
          <a:prstGeom prst="roundRect">
            <a:avLst/>
          </a:prstGeom>
          <a:solidFill>
            <a:srgbClr val="F48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13533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COMMUNITY &amp; RURAL REACH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1874519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14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 Sub-6 MB App Size: </a:t>
            </a:r>
            <a:r>
              <a:rPr sz="1100" b="0">
                <a:solidFill>
                  <a:srgbClr val="475569"/>
                </a:solidFill>
                <a:latin typeface="Calibri"/>
              </a:rPr>
              <a:t>Runs on low-end Android devices common in remote NER districts.</a:t>
            </a:r>
          </a:p>
          <a:p>
            <a:pPr>
              <a:spcAft>
                <a:spcPts val="14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 BLE P2P Mesh Network: </a:t>
            </a:r>
            <a:r>
              <a:rPr sz="1100" b="0">
                <a:solidFill>
                  <a:srgbClr val="475569"/>
                </a:solidFill>
                <a:latin typeface="Calibri"/>
              </a:rPr>
              <a:t>Relay emergency packets phone-to-phone without cell towers or internet.</a:t>
            </a:r>
          </a:p>
          <a:p>
            <a:pPr>
              <a:spcAft>
                <a:spcPts val="14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 Zero-Database Onboarding: </a:t>
            </a:r>
            <a:r>
              <a:rPr sz="1100" b="0">
                <a:solidFill>
                  <a:srgbClr val="475569"/>
                </a:solidFill>
                <a:latin typeface="Calibri"/>
              </a:rPr>
              <a:t>One-time local setup with no external database or cloud dependency.</a:t>
            </a:r>
          </a:p>
          <a:p>
            <a:pPr>
              <a:spcAft>
                <a:spcPts val="14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 100% Free &amp; Open Source: </a:t>
            </a:r>
            <a:r>
              <a:rPr sz="1100" b="0">
                <a:solidFill>
                  <a:srgbClr val="475569"/>
                </a:solidFill>
                <a:latin typeface="Calibri"/>
              </a:rPr>
              <a:t>Zero paid APIs. Uses Open-Meteo, ntfy.sh, and ESRI free tiles.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54864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5943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"/>
            <a:ext cx="12191695" cy="36576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"/>
            <a:ext cx="1188720" cy="457200"/>
          </a:xfrm>
          <a:prstGeom prst="roundRect">
            <a:avLst/>
          </a:prstGeom>
          <a:solidFill>
            <a:srgbClr val="0D1B3E"/>
          </a:solidFill>
          <a:ln w="12700">
            <a:solidFill>
              <a:srgbClr val="33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4592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37360" y="100584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FEASIBILITY AND VIABILITY</a:t>
            </a:r>
          </a:p>
        </p:txBody>
      </p:sp>
      <p:pic>
        <p:nvPicPr>
          <p:cNvPr id="10" name="Picture 9" descr="sih_2026_logo_17885196603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73152"/>
            <a:ext cx="566928" cy="56692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3854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CBD5E1"/>
                </a:solidFill>
                <a:latin typeface="Calibri"/>
              </a:defRPr>
            </a:pPr>
            <a:r>
              <a:t>Team AEGIS  |  SIH26001  |  MDoNER  |  Disaster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63854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C59B27"/>
                </a:solidFill>
                <a:latin typeface="Calibri"/>
              </a:defRPr>
            </a:pPr>
            <a:r>
              <a:t>Lloyd Institute of Engineering &amp; Technology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868680"/>
            <a:ext cx="5029200" cy="5486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" y="868680"/>
            <a:ext cx="5029200" cy="384048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88696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FEASIBILITY OF IDEA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14173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1A3C6E"/>
                </a:solidFill>
                <a:latin typeface="Calibri"/>
              </a:rPr>
              <a:t>Technical Feasibility: </a:t>
            </a:r>
            <a:r>
              <a:rPr sz="1100" b="0">
                <a:solidFill>
                  <a:srgbClr val="475569"/>
                </a:solidFill>
                <a:latin typeface="Calibri"/>
              </a:rPr>
              <a:t>Lightweight &lt;6 MB APK designed for low-spec Android devices common in NER. Operates 100% offline with cached AI predictions and BLE mesh.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1A3C6E"/>
                </a:solidFill>
                <a:latin typeface="Calibri"/>
              </a:rPr>
              <a:t>Scientific Rationale: </a:t>
            </a:r>
            <a:r>
              <a:rPr sz="1100" b="0">
                <a:solidFill>
                  <a:srgbClr val="475569"/>
                </a:solidFill>
                <a:latin typeface="Calibri"/>
              </a:rPr>
              <a:t>Based on GSI's National Landslide Susceptibility Mapping (NLSM) methodology with XGBoost ensemble validated at 89.3% accuracy and 0.92 ROC-AUC.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1A3C6E"/>
                </a:solidFill>
                <a:latin typeface="Calibri"/>
              </a:rPr>
              <a:t>Zero-Cost Infrastructure: </a:t>
            </a:r>
            <a:r>
              <a:rPr sz="1100" b="0">
                <a:solidFill>
                  <a:srgbClr val="475569"/>
                </a:solidFill>
                <a:latin typeface="Calibri"/>
              </a:rPr>
              <a:t>Uses exclusively free open-source tools — Open-Meteo (weather), ntfy.sh (push), ESRI free tiles (maps), GitHub Actions (CI/CD).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1A3C6E"/>
                </a:solidFill>
                <a:latin typeface="Calibri"/>
              </a:rPr>
              <a:t>Government Alignment: </a:t>
            </a:r>
            <a:r>
              <a:rPr sz="1100" b="0">
                <a:solidFill>
                  <a:srgbClr val="475569"/>
                </a:solidFill>
                <a:latin typeface="Calibri"/>
              </a:rPr>
              <a:t>Directly addresses MDoNER's mandate for disaster risk reduction in NER. Compatible with NDRF, SDRF, and IMD operational frameworks.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1A3C6E"/>
                </a:solidFill>
                <a:latin typeface="Calibri"/>
              </a:rPr>
              <a:t>High Scalability: </a:t>
            </a:r>
            <a:r>
              <a:rPr sz="1100" b="0">
                <a:solidFill>
                  <a:srgbClr val="475569"/>
                </a:solidFill>
                <a:latin typeface="Calibri"/>
              </a:rPr>
              <a:t>Modular architecture supports easy expansion to all 8 NER states and can integrate ISRO's MOSDAC satellite data feeds.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1A3C6E"/>
                </a:solidFill>
                <a:latin typeface="Calibri"/>
              </a:rPr>
              <a:t>Rural-First Design: </a:t>
            </a:r>
            <a:r>
              <a:rPr sz="1100" b="0">
                <a:solidFill>
                  <a:srgbClr val="475569"/>
                </a:solidFill>
                <a:latin typeface="Calibri"/>
              </a:rPr>
              <a:t>12 NER languages, voice-first navigation, high-contrast UI for elder citizens, and one-time zero-database onboarding.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868680"/>
            <a:ext cx="603504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8C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60720" y="868680"/>
            <a:ext cx="6035040" cy="365760"/>
          </a:xfrm>
          <a:prstGeom prst="roundRect">
            <a:avLst/>
          </a:prstGeom>
          <a:solidFill>
            <a:srgbClr val="F48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89611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Offline-First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1307592"/>
            <a:ext cx="5577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 100% autonomous in zero-network mountain valleys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 Flash-cached AI risk predictions for 16 NER zones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 BLE P2P Gossip Mesh relay without cell towers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 Hardware satellite GPS positioning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2715768"/>
            <a:ext cx="603504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60720" y="2715768"/>
            <a:ext cx="6035040" cy="36576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2743199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Multi-Modal AI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3154679"/>
            <a:ext cx="5577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 7-factor weighted geotechnical hazard formula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 Live Open-Meteo rainfall fusion pipeline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 SHAP explainability for transparent predictions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 4-6 hour advance warning capability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0" y="4562856"/>
            <a:ext cx="603504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760720" y="4562856"/>
            <a:ext cx="6035040" cy="36576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45902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Sovereign Dispatch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5001768"/>
            <a:ext cx="5577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 Automated NDRF/SDRF mobilization protocol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 Highway closure gate triggers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 Priority SMS cell broadcast to 1,250+ citizens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 Zero-dependency on paid cloud APIs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54864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5943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"/>
            <a:ext cx="12191695" cy="36576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"/>
            <a:ext cx="1188720" cy="457200"/>
          </a:xfrm>
          <a:prstGeom prst="roundRect">
            <a:avLst/>
          </a:prstGeom>
          <a:solidFill>
            <a:srgbClr val="0D1B3E"/>
          </a:solidFill>
          <a:ln w="12700">
            <a:solidFill>
              <a:srgbClr val="33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4592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37360" y="100584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RESEARCH AND REFERENCES</a:t>
            </a:r>
          </a:p>
        </p:txBody>
      </p:sp>
      <p:pic>
        <p:nvPicPr>
          <p:cNvPr id="10" name="Picture 9" descr="sih_2026_logo_17885196603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73152"/>
            <a:ext cx="566928" cy="56692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3854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CBD5E1"/>
                </a:solidFill>
                <a:latin typeface="Calibri"/>
              </a:defRPr>
            </a:pPr>
            <a:r>
              <a:t>Team AEGIS  |  SIH26001  |  MDoNER  |  Disaster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63854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C59B27"/>
                </a:solidFill>
                <a:latin typeface="Calibri"/>
              </a:defRPr>
            </a:pPr>
            <a:r>
              <a:t>Lloyd Institute of Engineering &amp; Technology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868680"/>
            <a:ext cx="56692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" y="868680"/>
            <a:ext cx="5669280" cy="384048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8869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KEY RESEARCH &amp; STATISTICS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1417320"/>
            <a:ext cx="5212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1A3C6E"/>
                </a:solidFill>
                <a:latin typeface="Calibri"/>
              </a:rPr>
              <a:t>1.  70% Landslide Fatalities: </a:t>
            </a:r>
            <a:r>
              <a:rPr sz="1100" b="0">
                <a:solidFill>
                  <a:srgbClr val="475569"/>
                </a:solidFill>
                <a:latin typeface="Calibri"/>
              </a:rPr>
              <a:t>NER accounts for the majority of non-Himalayan landslide deaths in India. (Source: GSI Landslide Atlas 2023)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1A3C6E"/>
                </a:solidFill>
                <a:latin typeface="Calibri"/>
              </a:rPr>
              <a:t>2.  4.5 Crore Affected: </a:t>
            </a:r>
            <a:r>
              <a:rPr sz="1100" b="0">
                <a:solidFill>
                  <a:srgbClr val="475569"/>
                </a:solidFill>
                <a:latin typeface="Calibri"/>
              </a:rPr>
              <a:t>Over 45 million citizens across 8 NER states face recurring monsoon landslide risk annually.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1A3C6E"/>
                </a:solidFill>
                <a:latin typeface="Calibri"/>
              </a:rPr>
              <a:t>3.  Rs 1,400+ Cr Damage (2024): </a:t>
            </a:r>
            <a:r>
              <a:rPr sz="1100" b="0">
                <a:solidFill>
                  <a:srgbClr val="475569"/>
                </a:solidFill>
                <a:latin typeface="Calibri"/>
              </a:rPr>
              <a:t>Highway infrastructure loss from slope failures along NH-44, NH-29, and BG railway links.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1A3C6E"/>
                </a:solidFill>
                <a:latin typeface="Calibri"/>
              </a:rPr>
              <a:t>4.  Sohra/Mawsynram: </a:t>
            </a:r>
            <a:r>
              <a:rPr sz="1100" b="0">
                <a:solidFill>
                  <a:srgbClr val="475569"/>
                </a:solidFill>
                <a:latin typeface="Calibri"/>
              </a:rPr>
              <a:t>World's highest recorded rainfall zones — averaging 11,872 mm/year — are in Meghalaya, NER.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1A3C6E"/>
                </a:solidFill>
                <a:latin typeface="Calibri"/>
              </a:rPr>
              <a:t>5.  Zero Real-Time Tools: </a:t>
            </a:r>
            <a:r>
              <a:rPr sz="1100" b="0">
                <a:solidFill>
                  <a:srgbClr val="475569"/>
                </a:solidFill>
                <a:latin typeface="Calibri"/>
              </a:rPr>
              <a:t>GSI susceptibility maps are static PDFs with no live rainfall integration or citizen alert mechanism.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868680"/>
            <a:ext cx="548640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868680"/>
            <a:ext cx="5486400" cy="384048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886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REFERENCES &amp; DATA 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41732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1.  Geological Survey of India (GSI) — National Landslide Susceptibility Mapping (NLSM), 2023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2.  Ministry of Development of North Eastern Region (MDoNER) — Annual Report 2024-25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3.  Open-Meteo API — Open-source weather forecast data (api.open-meteo.com)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4.  NDRF / SDRF — National Disaster Response Force operational guidelines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5.  IMD — India Meteorological Department rainfall &amp; seismic records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6.  ISRO MOSDAC — Satellite-based weather observation (mosdac.gov.in)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7.  ESRI ArcGIS — World Topographic and Satellite Imagery basemaps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8.  Kumar et al. (2022) — 'Landslide susceptibility in NER using ML techniques', J. of Geomatics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9.  Basu &amp; Ghosh (2021) — 'Rainfall-induced landslide prediction models for Northeast India'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5166360"/>
            <a:ext cx="7589520" cy="11887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521208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C59B27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669280"/>
            <a:ext cx="7223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</a:p>
          <a:p>
            <a:pPr algn="ctr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"AEGIS aims to make landslide early warning accessible, autonomous, and life-saving for every citizen in North Eastern India."</a:t>
            </a:r>
          </a:p>
        </p:txBody>
      </p:sp>
      <p:pic>
        <p:nvPicPr>
          <p:cNvPr id="25" name="Picture 2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5257800"/>
            <a:ext cx="548640" cy="548640"/>
          </a:xfrm>
          <a:prstGeom prst="rect">
            <a:avLst/>
          </a:prstGeom>
        </p:spPr>
      </p:pic>
      <p:pic>
        <p:nvPicPr>
          <p:cNvPr id="26" name="Picture 25" descr="sih_2026_logo_17885196603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21208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