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800" b="1">
                <a:solidFill>
                  <a:srgbClr val="1A3C6E"/>
                </a:solidFill>
                <a:latin typeface="Calibri"/>
              </a:defRPr>
            </a:pPr>
            <a:r>
              <a:t>SMART INDIA HACKATHON 2026</a:t>
            </a:r>
          </a:p>
        </p:txBody>
      </p:sp>
      <p:pic>
        <p:nvPicPr>
          <p:cNvPr id="6" name="Picture 5" descr="sih_2026_logo_17885196603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005840" cy="1005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280160"/>
            <a:ext cx="6858000" cy="3931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6126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Problem Statement ID-  </a:t>
            </a:r>
            <a:r>
              <a:rPr sz="1600" b="0">
                <a:solidFill>
                  <a:srgbClr val="1E293B"/>
                </a:solidFill>
                <a:latin typeface="Calibri"/>
              </a:rPr>
              <a:t>SIH26001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Problem Statement Title-  </a:t>
            </a:r>
            <a:r>
              <a:rPr sz="1600" b="0">
                <a:solidFill>
                  <a:srgbClr val="1E293B"/>
                </a:solidFill>
                <a:latin typeface="Calibri"/>
              </a:rPr>
              <a:t>AI-Based Early Warning and Landslide Risk Monitoring System in NER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Theme-  </a:t>
            </a:r>
            <a:r>
              <a:rPr sz="1600" b="0">
                <a:solidFill>
                  <a:srgbClr val="1E293B"/>
                </a:solidFill>
                <a:latin typeface="Calibri"/>
              </a:rPr>
              <a:t>Disaster Management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PS Category-  </a:t>
            </a:r>
            <a:r>
              <a:rPr sz="1600" b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Team ID-  </a:t>
            </a:r>
            <a:r>
              <a:rPr sz="16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Team Name-  </a:t>
            </a:r>
            <a:r>
              <a:rPr sz="1600" b="0">
                <a:solidFill>
                  <a:srgbClr val="1E293B"/>
                </a:solidFill>
                <a:latin typeface="Calibri"/>
              </a:rPr>
              <a:t>AEGIS</a:t>
            </a:r>
          </a:p>
        </p:txBody>
      </p:sp>
      <p:pic>
        <p:nvPicPr>
          <p:cNvPr id="9" name="Picture 8" descr="aegis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280160"/>
            <a:ext cx="393192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394960"/>
            <a:ext cx="10972800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Lloyd Institute of Engineering &amp; Technology  |  Team Lead: Harsh Pathak + 5 Members  |  Mentor: Meenakshi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08192"/>
            <a:ext cx="12191695" cy="74980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2362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Ministry of Development of North Eastern Region (MDoNER)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Government of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gi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91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200" b="1">
                <a:solidFill>
                  <a:srgbClr val="1A3C6E"/>
                </a:solidFill>
                <a:latin typeface="Calibri"/>
              </a:defRPr>
            </a:pPr>
            <a:r>
              <a:t>AEGIS</a:t>
            </a:r>
          </a:p>
        </p:txBody>
      </p:sp>
      <p:pic>
        <p:nvPicPr>
          <p:cNvPr id="7" name="Picture 6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594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NER Landslide Early Warning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024128"/>
            <a:ext cx="484632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051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IDEA / PROTOTYPE:</a:t>
            </a:r>
          </a:p>
        </p:txBody>
      </p:sp>
      <p:pic>
        <p:nvPicPr>
          <p:cNvPr id="11" name="Picture 10" descr="aegis_app_mockup_178852037079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3062177" cy="5486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114800" y="1664208"/>
            <a:ext cx="7680960" cy="4846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Landslides in NER </a:t>
            </a:r>
            <a:r>
              <a:rPr sz="1300" b="0">
                <a:solidFill>
                  <a:srgbClr val="475569"/>
                </a:solidFill>
                <a:latin typeface="Calibri"/>
              </a:rPr>
              <a:t>are a recurring catastrophe — 70% of India's non-Himalayan landslide fatalities occur across the 8 North Eastern states. Fragile Disang shale formations, world-record rainfall (Sohra/Mawsynram), and young tectonic slopes trigger rapid debris flows every monsoon.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AEGIS (NER-LEWS) </a:t>
            </a:r>
            <a:r>
              <a:rPr sz="1300" b="0">
                <a:solidFill>
                  <a:srgbClr val="475569"/>
                </a:solidFill>
                <a:latin typeface="Calibri"/>
              </a:rPr>
              <a:t>is an AI-powered, multimodal early warning GIS platform that fuses real-time rainfall telemetry, geotechnical hazard models, and automated multi-channel emergency dispatch specifically engineered for NER.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The platform tracks and predicts on a continuous basis:
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1. Dynamic Risk Scoring: </a:t>
            </a:r>
            <a:r>
              <a:rPr sz="1300" b="0">
                <a:solidFill>
                  <a:srgbClr val="475569"/>
                </a:solidFill>
                <a:latin typeface="Calibri"/>
              </a:rPr>
              <a:t>Live 0-100% hazard indices across 16 critical NER zones using LandslideNet v3.2 (XGBoost + RF ensemble) fusing 7 geotechnical factors.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2. Citizen GPS Safety: </a:t>
            </a:r>
            <a:r>
              <a:rPr sz="1300" b="0">
                <a:solidFill>
                  <a:srgbClr val="475569"/>
                </a:solidFill>
                <a:latin typeface="Calibri"/>
              </a:rPr>
              <a:t>Instant 1-click browser geolocation check — tells the user 'YOU ARE SAFE' or 'CRITICAL RISK' with live rainfall, temperature, and evacuation guidance.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3. Autonomous Offline Engine: </a:t>
            </a:r>
            <a:r>
              <a:rPr sz="1300" b="0">
                <a:solidFill>
                  <a:srgbClr val="475569"/>
                </a:solidFill>
                <a:latin typeface="Calibri"/>
              </a:rPr>
              <a:t>Operates 100% without internet using cached AI predictions, hardware satellite GPS, and Bluetooth Low Energy (BLE) P2P mesh networking to relay hazard alerts.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4. Sovereign Emergency Dispatch: </a:t>
            </a:r>
            <a:r>
              <a:rPr sz="1300" b="0">
                <a:solidFill>
                  <a:srgbClr val="475569"/>
                </a:solidFill>
                <a:latin typeface="Calibri"/>
              </a:rPr>
              <a:t>1-click NDRF/SDRF mobilization, highway closure triggers, hospital alerts, and priority SMS cell broadcasts to 1,250+ subscribers.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gi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TECHNICAL APPROACH</a:t>
            </a:r>
          </a:p>
        </p:txBody>
      </p:sp>
      <p:pic>
        <p:nvPicPr>
          <p:cNvPr id="7" name="Picture 6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914400"/>
            <a:ext cx="594360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9933"/>
                </a:solidFill>
                <a:latin typeface="Calibri"/>
              </a:defRPr>
            </a:pPr>
            <a:r>
              <a:t>1.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Open-Meteo REST API (hourly rain gauges)</a:t>
            </a:r>
            <a:br/>
            <a:r>
              <a:t>In-situ IoT Sensors (soil moisture, displacement)</a:t>
            </a:r>
            <a:br/>
            <a:r>
              <a:t>GSI NLSM Historical Susceptibility Shapefiles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77439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0487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2. AI INFERENCE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7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LandslideNet v3.2 — XGBoost + RF Ensemble</a:t>
            </a:r>
            <a:br/>
            <a:r>
              <a:t>7-Factor Formula: Rainfall(0.30), Slope(0.20),</a:t>
            </a:r>
            <a:br/>
            <a:r>
              <a:t>Soil(0.18), Lithology(0.12), Seismicity(0.10),</a:t>
            </a:r>
            <a:br/>
            <a:r>
              <a:t>Drainage(0.05), Land Cover(0.05)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4CAF50"/>
                </a:solidFill>
                <a:latin typeface="Calibri"/>
              </a:defRPr>
            </a:pPr>
            <a:r>
              <a:t>3. SPATIAL GIS RENDERING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5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React-Leaflet Hardware-Accelerated Vectors</a:t>
            </a:r>
            <a:br/>
            <a:r>
              <a:t>ESRI ArcGIS Topo + Satellite Layers</a:t>
            </a:r>
            <a:br/>
            <a:r>
              <a:t>16 NER Zone Polygons with Live Risk Overlays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56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44336"/>
                </a:solidFill>
                <a:latin typeface="Calibri"/>
              </a:defRPr>
            </a:pPr>
            <a:r>
              <a:t>4. ALERT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ntfy.sh Zero-Config Push Webhooks</a:t>
            </a:r>
            <a:br/>
            <a:r>
              <a:t>Priority SMS Cell Broadcast (1,250+)</a:t>
            </a:r>
            <a:br/>
            <a:r>
              <a:t>NDRF/SDRF Mobilization &amp; Highway Gates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914400"/>
            <a:ext cx="548640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914400"/>
            <a:ext cx="5486400" cy="384048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9418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463040"/>
            <a:ext cx="2514600" cy="1874519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1463040"/>
            <a:ext cx="2514600" cy="29260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4813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CITIZEN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18105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Instant GPS safety check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Live risk score 0-100%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Evacuation route guidance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12 NER regional languages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1463040"/>
            <a:ext cx="2514600" cy="1874519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1160" y="1463040"/>
            <a:ext cx="251460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4813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GOVERNMENT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18105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16-zone GIS risk dashboard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1-click NDRF/SDRF dispatch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Real-time sensor telemetry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Highway closure automation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520440"/>
            <a:ext cx="2514600" cy="1874519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3520440"/>
            <a:ext cx="2514600" cy="292608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5387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OFFLINE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38679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BLE P2P mesh networking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Cached AI risk predictions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Hardware satellite GPS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Direct SOS calls (no data)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81160" y="3520440"/>
            <a:ext cx="2514600" cy="1874519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81160" y="3520440"/>
            <a:ext cx="2514600" cy="292608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5387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38679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Sub-6 MB app size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Zero-database onboarding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100% free open-source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Runs on low-end Android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577840"/>
            <a:ext cx="512064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623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E40AF"/>
                </a:solidFill>
                <a:latin typeface="Calibri"/>
              </a:defRPr>
            </a:pPr>
            <a:r>
              <a:t>React 18  |  FastAPI  |  XGBoost  |  Leaflet.js  |  Capacitor  |  BLE  |  ntfy.sh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gi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45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PROTECTING 4.5 CRORE NER CITIZENS</a:t>
            </a:r>
          </a:p>
        </p:txBody>
      </p:sp>
      <p:pic>
        <p:nvPicPr>
          <p:cNvPr id="8" name="Picture 7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91440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41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CITIZEN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114300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1-Click GPS Safety Check: </a:t>
            </a:r>
            <a:r>
              <a:rPr sz="1300" b="0">
                <a:solidFill>
                  <a:srgbClr val="475569"/>
                </a:solidFill>
                <a:latin typeface="Calibri"/>
              </a:rPr>
              <a:t>Instant real-time 'Safe / Critical' verdict for any NER coordinate with live weather data.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12 Regional Languages: </a:t>
            </a:r>
            <a:r>
              <a:rPr sz="1300" b="0">
                <a:solidFill>
                  <a:srgbClr val="475569"/>
                </a:solidFill>
                <a:latin typeface="Calibri"/>
              </a:rPr>
              <a:t>Assamese, Bengali, Khasi, Mizo, Meitei, Nepali — removing language barriers in remote areas.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Offline Survival Engine: </a:t>
            </a:r>
            <a:r>
              <a:rPr sz="1300" b="0">
                <a:solidFill>
                  <a:srgbClr val="475569"/>
                </a:solidFill>
                <a:latin typeface="Calibri"/>
              </a:rPr>
              <a:t>Works 100% in mountain blackouts with cached AI, BLE mesh, direct SOS calls, and hardware GPS.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88920"/>
            <a:ext cx="3200400" cy="3657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1635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GOVERNMENT EMPOWERMENT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200400"/>
            <a:ext cx="114300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918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Automated NDRF Dispatch: </a:t>
            </a:r>
            <a:r>
              <a:rPr sz="1300" b="0">
                <a:solidFill>
                  <a:srgbClr val="475569"/>
                </a:solidFill>
                <a:latin typeface="Calibri"/>
              </a:rPr>
              <a:t>1-click mobilization of NDRF 1st Bn Guwahati and State SDRF units with zero manual intervention.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Real-Time GIS Dashboard: </a:t>
            </a:r>
            <a:r>
              <a:rPr sz="1300" b="0">
                <a:solidFill>
                  <a:srgbClr val="475569"/>
                </a:solidFill>
                <a:latin typeface="Calibri"/>
              </a:rPr>
              <a:t>Live 16-zone risk heatmap with sensor telemetry, rainfall overlays for MDoNER officials.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Highway Gate Control: </a:t>
            </a:r>
            <a:r>
              <a:rPr sz="1300" b="0">
                <a:solidFill>
                  <a:srgbClr val="475569"/>
                </a:solidFill>
                <a:latin typeface="Calibri"/>
              </a:rPr>
              <a:t>Automated NH-44/NH-29 closure triggers preventing vehicular casualties during active debris 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63440"/>
            <a:ext cx="32004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COMMUNITY &amp; RURAL REACH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074920"/>
            <a:ext cx="11430000" cy="13258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Sub-6 MB App Size: </a:t>
            </a:r>
            <a:r>
              <a:rPr sz="1300" b="0">
                <a:solidFill>
                  <a:srgbClr val="475569"/>
                </a:solidFill>
                <a:latin typeface="Calibri"/>
              </a:rPr>
              <a:t>Lightweight enough for low-end Android devices common in remote NER districts.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BLE P2P Mesh Network: </a:t>
            </a:r>
            <a:r>
              <a:rPr sz="1300" b="0">
                <a:solidFill>
                  <a:srgbClr val="475569"/>
                </a:solidFill>
                <a:latin typeface="Calibri"/>
              </a:rPr>
              <a:t>Relay emergency packets phone-to-phone without cell towers or internet in disconnected valleys.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100% Free &amp; Open Source: </a:t>
            </a:r>
            <a:r>
              <a:rPr sz="1300" b="0">
                <a:solidFill>
                  <a:srgbClr val="475569"/>
                </a:solidFill>
                <a:latin typeface="Calibri"/>
              </a:rPr>
              <a:t>Zero paid APIs used. Built entirely on Open-Meteo, ntfy.sh, ESRI free tiles, and GitHub Actions.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gi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FEASIBILITY AND VIABILITY</a:t>
            </a:r>
          </a:p>
        </p:txBody>
      </p:sp>
      <p:pic>
        <p:nvPicPr>
          <p:cNvPr id="7" name="Picture 6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914400"/>
            <a:ext cx="5303520" cy="548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FEASIBILITY OF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Technical Feasibility: </a:t>
            </a:r>
            <a:r>
              <a:rPr sz="1200" b="0">
                <a:solidFill>
                  <a:srgbClr val="475569"/>
                </a:solidFill>
                <a:latin typeface="Calibri"/>
              </a:rPr>
              <a:t>Lightweight &lt;6 MB APK designed for low-spec Android devices. Works fully offline with cached AI and BLE mesh.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Scientific Rationale: </a:t>
            </a:r>
            <a:r>
              <a:rPr sz="1200" b="0">
                <a:solidFill>
                  <a:srgbClr val="475569"/>
                </a:solidFill>
                <a:latin typeface="Calibri"/>
              </a:rPr>
              <a:t>Based on GSI's NLSM methodology with XGBoost ensemble validated at 89.3% accuracy and 0.92 ROC-AUC score.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Zero-Cost Infrastructure: </a:t>
            </a:r>
            <a:r>
              <a:rPr sz="1200" b="0">
                <a:solidFill>
                  <a:srgbClr val="475569"/>
                </a:solidFill>
                <a:latin typeface="Calibri"/>
              </a:rPr>
              <a:t>Uses only free open-source tools — Open-Meteo (weather), ntfy.sh (push), ESRI free tiles, GitHub Actions CI/CD.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Government Alignment: </a:t>
            </a:r>
            <a:r>
              <a:rPr sz="1200" b="0">
                <a:solidFill>
                  <a:srgbClr val="475569"/>
                </a:solidFill>
                <a:latin typeface="Calibri"/>
              </a:rPr>
              <a:t>Directly addresses MDoNER's disaster risk reduction mandate. Compatible with NDRF, SDRF, and IMD frameworks.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High Scalability: </a:t>
            </a:r>
            <a:r>
              <a:rPr sz="1200" b="0">
                <a:solidFill>
                  <a:srgbClr val="475569"/>
                </a:solidFill>
                <a:latin typeface="Calibri"/>
              </a:rPr>
              <a:t>Modular architecture supports expansion to all 8 NER states and integration with ISRO MOSDAC satellite feeds.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Rural-First Design: </a:t>
            </a:r>
            <a:r>
              <a:rPr sz="1200" b="0">
                <a:solidFill>
                  <a:srgbClr val="475569"/>
                </a:solidFill>
                <a:latin typeface="Calibri"/>
              </a:rPr>
              <a:t>12 NER languages, high-contrast UI, voice-first navigation, one-time zero-database local onboarding.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914400"/>
            <a:ext cx="1920240" cy="5486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914400"/>
            <a:ext cx="192024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960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Offline-First</a:t>
            </a:r>
            <a:br/>
            <a: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0020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100% autonomous in zero-network valleys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Flash-cached AI risk predictions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BLE P2P gossip mesh relay protocol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Hardware satellite GPS positioning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914400"/>
            <a:ext cx="1920240" cy="5486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914400"/>
            <a:ext cx="1920240" cy="5943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960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Multi-Modal</a:t>
            </a:r>
            <a:br/>
            <a:r>
              <a:t>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7-factor geotechnical hazard formula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Live Open-Meteo rainfall fusion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SHAP explainability for transparency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4-6 hour advance warning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914400"/>
            <a:ext cx="1920240" cy="5486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40" y="914400"/>
            <a:ext cx="192024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960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Sovereign</a:t>
            </a:r>
            <a:br/>
            <a:r>
              <a:t>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60020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Automated NDRF/SDRF mobilization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Highway closure gate triggers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Priority SMS to 1,250+ citizens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Zero paid API dependencies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gi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RESEARCH AND REFERENCES</a:t>
            </a:r>
          </a:p>
        </p:txBody>
      </p:sp>
      <p:pic>
        <p:nvPicPr>
          <p:cNvPr id="7" name="Picture 6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914400"/>
            <a:ext cx="5669280" cy="3840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1.  70% Landslide Fatalities: </a:t>
            </a:r>
            <a:r>
              <a:rPr sz="1200" b="0">
                <a:solidFill>
                  <a:srgbClr val="475569"/>
                </a:solidFill>
                <a:latin typeface="Calibri"/>
              </a:rPr>
              <a:t>NER accounts for the majority of non-Himalayan landslide deaths in India. (Source: GSI Landslide Atlas 2023)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2.  4.5 Crore Affected: </a:t>
            </a:r>
            <a:r>
              <a:rPr sz="1200" b="0">
                <a:solidFill>
                  <a:srgbClr val="475569"/>
                </a:solidFill>
                <a:latin typeface="Calibri"/>
              </a:rPr>
              <a:t>Over 45 million citizens across 8 NER states face recurring monsoon landslide risk annually.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3.  Rs 1,400+ Cr Damage: </a:t>
            </a:r>
            <a:r>
              <a:rPr sz="1200" b="0">
                <a:solidFill>
                  <a:srgbClr val="475569"/>
                </a:solidFill>
                <a:latin typeface="Calibri"/>
              </a:rPr>
              <a:t>Highway infrastructure loss from slope failures along NH-44, NH-29, and BG railway. (2024 data)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4.  Sohra/Mawsynram Records: </a:t>
            </a:r>
            <a:r>
              <a:rPr sz="1200" b="0">
                <a:solidFill>
                  <a:srgbClr val="475569"/>
                </a:solidFill>
                <a:latin typeface="Calibri"/>
              </a:rPr>
              <a:t>World's highest rainfall zones averaging 11,872 mm/year are in Meghalaya, NER.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5.  Zero Real-Time Tools: </a:t>
            </a:r>
            <a:r>
              <a:rPr sz="1200" b="0">
                <a:solidFill>
                  <a:srgbClr val="475569"/>
                </a:solidFill>
                <a:latin typeface="Calibri"/>
              </a:rPr>
              <a:t>Current GSI susceptibility maps are static PDFs with no live rainfall integration or citizen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914400"/>
            <a:ext cx="5486400" cy="3840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0515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1.  Geological Survey of India (GSI) — NLSM 2023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2.  MDoNER — Annual Report 2024-25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3.  Open-Meteo API — api.open-meteo.com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4.  NDRF/SDRF Operational Guidelines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5.  IMD — Rainfall &amp; Seismic Records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6.  ISRO MOSDAC — mosdac.gov.in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7.  ESRI ArcGIS — Topo/Satellite Basemaps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8.  Kumar et al. (2022) — ML Susceptibility in NER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9.  Basu &amp; Ghosh (2021) — Rainfall-Induced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892040"/>
            <a:ext cx="11430000" cy="658368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56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5803D"/>
                </a:solidFill>
                <a:latin typeface="Calibri"/>
              </a:defRPr>
            </a:pPr>
            <a:r>
              <a:t>"AEGIS aims to make landslide early warning accessible, autonomous, and life-saving for every citizen in North Eastern India."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5669280"/>
            <a:ext cx="6400800" cy="8229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57150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000" b="1">
                <a:solidFill>
                  <a:srgbClr val="C59B27"/>
                </a:solidFill>
                <a:latin typeface="Calibri"/>
              </a:defRPr>
            </a:pPr>
            <a:r>
              <a:t>THANK YOU</a:t>
            </a:r>
          </a:p>
        </p:txBody>
      </p:sp>
      <p:pic>
        <p:nvPicPr>
          <p:cNvPr id="16" name="Picture 15" descr="aegi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5623560"/>
            <a:ext cx="868680" cy="868680"/>
          </a:xfrm>
          <a:prstGeom prst="rect">
            <a:avLst/>
          </a:prstGeom>
        </p:spPr>
      </p:pic>
      <p:pic>
        <p:nvPicPr>
          <p:cNvPr id="17" name="Picture 16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6235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