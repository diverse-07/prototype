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3600" b="1">
                <a:solidFill>
                  <a:srgbClr val="0A2558"/>
                </a:solidFill>
                <a:latin typeface="Garamond"/>
              </a:defRPr>
            </a:pPr>
            <a:r>
              <a:t>SMART INDIA HACKATHON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621792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"/>
            </a:pPr>
            <a:endParaRPr lang="en-US" dirty="0"/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0F172A"/>
                </a:solidFill>
                <a:latin typeface="Arial"/>
              </a:rPr>
              <a:t>Problem Statement ID – </a:t>
            </a:r>
            <a:r>
              <a:rPr sz="1700" b="1">
                <a:solidFill>
                  <a:srgbClr val="051636"/>
                </a:solidFill>
                <a:latin typeface="Arial"/>
              </a:rPr>
              <a:t>SIH26001</a:t>
            </a: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0F172A"/>
                </a:solidFill>
                <a:latin typeface="Arial"/>
              </a:rPr>
              <a:t>Problem Statement Title- </a:t>
            </a:r>
            <a:r>
              <a:rPr sz="1700" b="1">
                <a:solidFill>
                  <a:srgbClr val="051636"/>
                </a:solidFill>
                <a:latin typeface="Arial"/>
              </a:rPr>
              <a:t>AI-Driven Early Warning &amp; Landslide Risk Monitoring System in NER</a:t>
            </a: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0F172A"/>
                </a:solidFill>
                <a:latin typeface="Arial"/>
              </a:rPr>
              <a:t>Theme- </a:t>
            </a:r>
            <a:r>
              <a:rPr sz="1700" b="1">
                <a:solidFill>
                  <a:srgbClr val="051636"/>
                </a:solidFill>
                <a:latin typeface="Arial"/>
              </a:rPr>
              <a:t>Disaster Management</a:t>
            </a: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0F172A"/>
                </a:solidFill>
                <a:latin typeface="Arial"/>
              </a:rPr>
              <a:t>PS Category- Software/Hardware- </a:t>
            </a:r>
            <a:r>
              <a:rPr sz="1700" b="1">
                <a:solidFill>
                  <a:srgbClr val="1D4ED8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0F172A"/>
                </a:solidFill>
                <a:latin typeface="Arial"/>
              </a:rPr>
              <a:t>Team ID- </a:t>
            </a:r>
            <a:r>
              <a:rPr sz="1700" b="1">
                <a:solidFill>
                  <a:srgbClr val="051636"/>
                </a:solidFill>
                <a:latin typeface="Arial"/>
              </a:rPr>
              <a:t>SIH26001</a:t>
            </a: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0F172A"/>
                </a:solidFill>
                <a:latin typeface="Arial"/>
              </a:rPr>
              <a:t>Team Name (Registered on portal)- </a:t>
            </a:r>
            <a:r>
              <a:rPr sz="1700" b="1">
                <a:solidFill>
                  <a:srgbClr val="1D4ED8"/>
                </a:solidFill>
                <a:latin typeface="Arial"/>
              </a:rPr>
              <a:t>AEGIS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11480" y="62636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4155"/>
                </a:solidFill>
                <a:latin typeface="Arial"/>
              </a:defRPr>
            </a:pPr>
            <a:r>
              <a:t>Lloyd Institute of Engineering &amp; Technology, Greater Noida  |  Team Leader: Harsh Pathak + 5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46720" cy="1005840"/>
          </a:xfrm>
        </p:spPr>
        <p:txBody>
          <a:bodyPr wrap="square"/>
          <a:lstStyle/>
          <a:p>
            <a:pPr algn="ctr">
              <a:defRPr sz="2100" b="1">
                <a:solidFill>
                  <a:srgbClr val="0A2558"/>
                </a:solidFill>
                <a:latin typeface="Times New Roman"/>
              </a:defRPr>
            </a:pPr>
            <a:r>
              <a:t>AEGIS: AI-DRIVEN NER LANDSLIDE EARLY WARNING 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A2558"/>
                </a:solidFill>
                <a:latin typeface="Arial"/>
              </a:defRPr>
            </a:pPr>
            <a:r>
              <a:t>Team</a:t>
            </a:r>
            <a:br/>
            <a:r>
              <a:t>AEGIS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ounded Rectangle 15362"/>
          <p:cNvSpPr/>
          <p:nvPr/>
        </p:nvSpPr>
        <p:spPr>
          <a:xfrm>
            <a:off x="411480" y="1234440"/>
            <a:ext cx="512064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4" name="Picture 15363" descr="perfect_land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298448"/>
            <a:ext cx="4974336" cy="2788920"/>
          </a:xfrm>
          <a:prstGeom prst="rect">
            <a:avLst/>
          </a:prstGeom>
        </p:spPr>
      </p:pic>
      <p:sp>
        <p:nvSpPr>
          <p:cNvPr id="15365" name="Rounded Rectangle 15364"/>
          <p:cNvSpPr/>
          <p:nvPr/>
        </p:nvSpPr>
        <p:spPr>
          <a:xfrm>
            <a:off x="484632" y="4151376"/>
            <a:ext cx="4974336" cy="74980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566928" y="4187952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B91C1C"/>
                </a:solidFill>
                <a:latin typeface="Calibri"/>
              </a:defRPr>
            </a:pPr>
            <a:r>
              <a:t>Severed NH-44 highway in Meghalaya: Monsoonal debris flows cut off lifeline food and medical supplies across 8 NER hill states.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11480" y="5065776"/>
            <a:ext cx="5120640" cy="11704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548640" y="51023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51636"/>
                </a:solidFill>
                <a:latin typeface="Calibri"/>
              </a:defRPr>
            </a:pPr>
            <a:r>
              <a:t>❖ CRITICAL GROUND REALITY (NER)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548640" y="535838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20" b="1">
                <a:solidFill>
                  <a:srgbClr val="B91C1C"/>
                </a:solidFill>
              </a:defRPr>
            </a:pPr>
            <a:r>
              <a:t>•  70% of India's non-Himalayan landslide deaths occur in Northeast India.</a:t>
            </a:r>
          </a:p>
          <a:p>
            <a:pPr>
              <a:defRPr sz="1120" b="1">
                <a:solidFill>
                  <a:srgbClr val="0F172A"/>
                </a:solidFill>
              </a:defRPr>
            </a:pPr>
            <a:r>
              <a:t>•  180+ fatal slope failures &amp; ₹1,400+ Cr highway damage recorded in 2024 alone.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5715000" y="1234440"/>
            <a:ext cx="6080760" cy="50017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5715000" y="1234440"/>
            <a:ext cx="6080760" cy="384048"/>
          </a:xfrm>
          <a:prstGeom prst="roundRect">
            <a:avLst>
              <a:gd name="adj" fmla="val 3000"/>
            </a:avLst>
          </a:prstGeom>
          <a:solidFill>
            <a:srgbClr val="0A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5897880" y="126187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PROPOSED SOLUTION &amp; CORE INNOVATION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897880" y="1691640"/>
            <a:ext cx="57150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A2558"/>
                </a:solidFill>
                <a:latin typeface="Calibri"/>
              </a:rPr>
              <a:t>•  Detailed Explanation: </a:t>
            </a:r>
            <a:r>
              <a:rPr sz="1120" b="0">
                <a:solidFill>
                  <a:srgbClr val="1E293B"/>
                </a:solidFill>
                <a:latin typeface="Calibri"/>
              </a:rPr>
              <a:t>AEGIS is an automated, 100% software-defined early warning system combining live Open-Meteo &amp; IMD AWS precipitation, 30m DEM slope modeling, and XGBoost+RF ML inference across 16 NER hazard zones.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A2558"/>
                </a:solidFill>
                <a:latin typeface="Calibri"/>
              </a:rPr>
              <a:t>•  How it Addresses the Problem: </a:t>
            </a:r>
            <a:r>
              <a:rPr sz="1120" b="0">
                <a:solidFill>
                  <a:srgbClr val="1E293B"/>
                </a:solidFill>
                <a:latin typeface="Calibri"/>
              </a:rPr>
              <a:t>Replaces obsolete static PDF landslide maps with sub-second, dynamic 0-100% risk scoring, delivering 4-6 hours preemptive warning before devastating slope failure.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A2558"/>
                </a:solidFill>
                <a:latin typeface="Calibri"/>
              </a:rPr>
              <a:t>•  1-Click 'Am I Safe?' Citizen Radar: </a:t>
            </a:r>
            <a:r>
              <a:rPr sz="1120" b="0">
                <a:solidFill>
                  <a:srgbClr val="1E293B"/>
                </a:solidFill>
                <a:latin typeface="Calibri"/>
              </a:rPr>
              <a:t>Lightweight PWA immediately detects commuter coordinates via browser GPS, providing instant high-contrast visual hazard verdicts and nearest shelter routing.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A2558"/>
                </a:solidFill>
                <a:latin typeface="Calibri"/>
              </a:rPr>
              <a:t>•  Autonomous Offline Disaster Engine: </a:t>
            </a:r>
            <a:r>
              <a:rPr sz="1120" b="0">
                <a:solidFill>
                  <a:srgbClr val="1E293B"/>
                </a:solidFill>
                <a:latin typeface="Calibri"/>
              </a:rPr>
              <a:t>Runs delay-tolerant Bluetooth (BLE) P2P gossip mesh that hops 128-byte encrypted emergency packets vehicle-to-vehicle during 0 KB internet cellular blackouts.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A2558"/>
                </a:solidFill>
                <a:latin typeface="Calibri"/>
              </a:rPr>
              <a:t>•  Sovereign Multi-Agency Dispatch: </a:t>
            </a:r>
            <a:r>
              <a:rPr sz="1120" b="0">
                <a:solidFill>
                  <a:srgbClr val="1E293B"/>
                </a:solidFill>
                <a:latin typeface="Calibri"/>
              </a:rPr>
              <a:t>Automates 1-click NDRF 1st Bn Guwahati mobilization, NH-44 &amp; NH-29 toll gate barrier closure orders, and priority SMS cell broadcasts to 1,250+ residents.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A2558"/>
                </a:solidFill>
                <a:latin typeface="Calibri"/>
              </a:rPr>
              <a:t>•  12 Regional NER Tribal Languages: </a:t>
            </a:r>
            <a:r>
              <a:rPr sz="1120" b="0">
                <a:solidFill>
                  <a:srgbClr val="1E293B"/>
                </a:solidFill>
                <a:latin typeface="Calibri"/>
              </a:rPr>
              <a:t>Complete localized voice &amp; UI accessibility across Assamese, Bengali, Khasi, Garo, Mizo, Meitei, Nepali, Bodo, and Hindi.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0A2558"/>
                </a:solidFill>
                <a:latin typeface="Times New Roman"/>
              </a:defRPr>
            </a:pPr>
            <a:r>
              <a:t>TECHNICAL APPROACH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A2558"/>
                </a:solidFill>
                <a:latin typeface="Arial"/>
              </a:defRPr>
            </a:pPr>
            <a:r>
              <a:t>Team</a:t>
            </a:r>
            <a:br/>
            <a:r>
              <a:t>AEGIS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411480" y="1234440"/>
            <a:ext cx="5577840" cy="5001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234440"/>
            <a:ext cx="5577840" cy="384048"/>
          </a:xfrm>
          <a:prstGeom prst="roundRect">
            <a:avLst>
              <a:gd name="adj" fmla="val 3000"/>
            </a:avLst>
          </a:prstGeom>
          <a:solidFill>
            <a:srgbClr val="0A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2618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4-TIER PIPELINE ARCHITECTURE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169164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85800" y="17282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EA580C"/>
                </a:solidFill>
                <a:latin typeface="Calibri"/>
              </a:defRPr>
            </a:pPr>
            <a:r>
              <a:t>1. DATA INGESTION TIER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85800" y="1965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1E293B"/>
                </a:solidFill>
                <a:latin typeface="Calibri"/>
              </a:defRPr>
            </a:pPr>
            <a:r>
              <a:t>Open-Meteo REST API (live rainfall) + IMD AWS telemetry + NASA SRTM 30m DEM + Sentinel-2 satellite imagery + GSI NLSM shapefiles. (100% Software-Defined, Zero Hardware)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48640" y="283464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85800" y="28712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1D4ED8"/>
                </a:solidFill>
                <a:latin typeface="Calibri"/>
              </a:defRPr>
            </a:pPr>
            <a:r>
              <a:t>2. AI INFERENCE ENGINE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85800" y="3108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1E293B"/>
                </a:solidFill>
                <a:latin typeface="Calibri"/>
              </a:defRPr>
            </a:pPr>
            <a:r>
              <a:t>LandslideNet v3.2 — XGBoost + Random Forest ensemble (89.3% accuracy, 0.92 ROC-AUC). Fuses 7 factors: Rainfall (0.30), Slope (0.20), Soil Moisture (0.18), Lithology (0.12), Seismicity (0.10), Drainage (0.05), Forest Cover (0.05).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48640" y="3977639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85800" y="401421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15803D"/>
                </a:solidFill>
                <a:latin typeface="Calibri"/>
              </a:defRPr>
            </a:pPr>
            <a:r>
              <a:t>3. SPATIAL GIS RENDERING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85800" y="425195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1E293B"/>
                </a:solidFill>
                <a:latin typeface="Calibri"/>
              </a:defRPr>
            </a:pPr>
            <a:r>
              <a:t>React-Leaflet hardware-accelerated vectors with ESRI World Topo &amp; Satellite tiles. 16 regional NER zone polygons with dynamic color-coded hazard contours &amp; stress test simulation.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48640" y="512064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685800" y="51572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B91C1C"/>
                </a:solidFill>
                <a:latin typeface="Calibri"/>
              </a:defRPr>
            </a:pPr>
            <a:r>
              <a:t>4. EMERGENCY DISPATCH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85800" y="539495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1E293B"/>
                </a:solidFill>
                <a:latin typeface="Calibri"/>
              </a:defRPr>
            </a:pPr>
            <a:r>
              <a:t>Zero-config ntfy.sh webhooks, priority SMS cell broadcasts to 1,250+ residents, automated 1-click NDRF/SDRF mobilization orders, and NH-44 barrier controls.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72200" y="1234440"/>
            <a:ext cx="5623560" cy="50017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6172200" y="1234440"/>
            <a:ext cx="5623560" cy="384048"/>
          </a:xfrm>
          <a:prstGeom prst="roundRect">
            <a:avLst>
              <a:gd name="adj" fmla="val 3000"/>
            </a:avLst>
          </a:prstGeom>
          <a:solidFill>
            <a:srgbClr val="0A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355080" y="1261872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OFFICIAL TECHNOLOGY STACK &amp; LIBRARIES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355080" y="1691640"/>
            <a:ext cx="52578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0" name="Picture 17429" descr="rounded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728216"/>
            <a:ext cx="411033" cy="457200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040880" y="1719072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A2558"/>
                </a:solidFill>
                <a:latin typeface="Calibri"/>
              </a:defRPr>
            </a:pPr>
            <a:r>
              <a:t>Python &amp; XGBoost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040880" y="192024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80" b="0">
                <a:solidFill>
                  <a:srgbClr val="1E293B"/>
                </a:solidFill>
                <a:latin typeface="Calibri"/>
              </a:defRPr>
            </a:pPr>
            <a:r>
              <a:t>AI Core: LandslideNet v3.2 ensemble with SHAP explainability weights.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355080" y="2267712"/>
            <a:ext cx="52578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4" name="Picture 17433" descr="rounded_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304288"/>
            <a:ext cx="409544" cy="457200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7040880" y="2295144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A2558"/>
                </a:solidFill>
                <a:latin typeface="Calibri"/>
              </a:defRPr>
            </a:pPr>
            <a:r>
              <a:t>React 18 &amp; Vite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040880" y="2496312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80" b="0">
                <a:solidFill>
                  <a:srgbClr val="1E293B"/>
                </a:solidFill>
                <a:latin typeface="Calibri"/>
              </a:defRPr>
            </a:pPr>
            <a:r>
              <a:t>Frontend: Component-driven, sub-second renders, touch gestures.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355080" y="2843784"/>
            <a:ext cx="52578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8" name="Picture 17437" descr="rounded_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880360"/>
            <a:ext cx="409544" cy="457200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7040880" y="2871215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A2558"/>
                </a:solidFill>
                <a:latin typeface="Calibri"/>
              </a:defRPr>
            </a:pPr>
            <a:r>
              <a:t>FastAPI &amp; Uvicorn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7040880" y="3072384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80" b="0">
                <a:solidFill>
                  <a:srgbClr val="1E293B"/>
                </a:solidFill>
                <a:latin typeface="Calibri"/>
              </a:defRPr>
            </a:pPr>
            <a:r>
              <a:t>Backend: High-concurrency async REST endpoints with &lt;45ms latency.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6355080" y="3419856"/>
            <a:ext cx="52578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2" name="Picture 17441" descr="rounded_leaf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456432"/>
            <a:ext cx="409544" cy="457200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7040880" y="3447287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A2558"/>
                </a:solidFill>
                <a:latin typeface="Calibri"/>
              </a:defRPr>
            </a:pPr>
            <a:r>
              <a:t>Leaflet.js &amp; ESRI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040880" y="364845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80" b="0">
                <a:solidFill>
                  <a:srgbClr val="1E293B"/>
                </a:solidFill>
                <a:latin typeface="Calibri"/>
              </a:defRPr>
            </a:pPr>
            <a:r>
              <a:t>Spatial GIS: Hardware-accelerated vectors with Topo/Satellite tiles.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355080" y="3995928"/>
            <a:ext cx="52578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6" name="Picture 17445" descr="rounded_bluetoo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032504"/>
            <a:ext cx="411033" cy="457200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7040880" y="4023360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A2558"/>
                </a:solidFill>
                <a:latin typeface="Calibri"/>
              </a:defRPr>
            </a:pPr>
            <a:r>
              <a:t>Bluetooth Low Energy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040880" y="422452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80" b="0">
                <a:solidFill>
                  <a:srgbClr val="1E293B"/>
                </a:solidFill>
                <a:latin typeface="Calibri"/>
              </a:defRPr>
            </a:pPr>
            <a:r>
              <a:t>Offline Mesh: Web Bluetooth P2P gossip relay protocol (zero data).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355080" y="4572000"/>
            <a:ext cx="52578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0" name="Picture 17449" descr="rounded_andro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08576"/>
            <a:ext cx="409544" cy="457200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7040880" y="4599432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A2558"/>
                </a:solidFill>
                <a:latin typeface="Calibri"/>
              </a:defRPr>
            </a:pPr>
            <a:r>
              <a:t>Capacitor &amp; Android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7040880" y="480060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80" b="0">
                <a:solidFill>
                  <a:srgbClr val="1E293B"/>
                </a:solidFill>
                <a:latin typeface="Calibri"/>
              </a:defRPr>
            </a:pPr>
            <a:r>
              <a:t>Mobile: Sub-5.9 MB standalone cross-platform APK packaging.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6355080" y="5148072"/>
            <a:ext cx="525780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4" name="Picture 17453" descr="rounded_openmete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5184648"/>
            <a:ext cx="449754" cy="457200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7040880" y="5175504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A2558"/>
                </a:solidFill>
                <a:latin typeface="Calibri"/>
              </a:defRPr>
            </a:pPr>
            <a:r>
              <a:t>Open-Meteo API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7040880" y="5376672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80" b="0">
                <a:solidFill>
                  <a:srgbClr val="1E293B"/>
                </a:solidFill>
                <a:latin typeface="Calibri"/>
              </a:defRPr>
            </a:pPr>
            <a:r>
              <a:t>Telemetry: Real-time precipitation &amp; weather forecast data ingestion.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6355080" y="5742432"/>
            <a:ext cx="5257800" cy="402336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6446520" y="577900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20" b="1">
                <a:solidFill>
                  <a:srgbClr val="1D4ED8"/>
                </a:solidFill>
                <a:latin typeface="Calibri"/>
              </a:defRPr>
            </a:pPr>
            <a:r>
              <a:t>Model Accuracy: 89.3%  |  ROC-AUC: 0.92  |  Alert Latency: 2.3s  |  API Cost: ₹0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0A2558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A2558"/>
                </a:solidFill>
                <a:latin typeface="Arial"/>
              </a:defRPr>
            </a:pPr>
            <a:r>
              <a:t>Team</a:t>
            </a:r>
            <a:br/>
            <a:r>
              <a:t>AEGIS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3169767" y="1188720"/>
            <a:ext cx="5852160" cy="2404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perfect_ble_m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207" y="1261872"/>
            <a:ext cx="5669280" cy="2240280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411480" y="3703320"/>
            <a:ext cx="3657600" cy="25146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3703320"/>
            <a:ext cx="3657600" cy="347472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02920" y="37307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OPERATIONAL FEASIBILITY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21208" y="4096512"/>
            <a:ext cx="34381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 Zero Hardware Drilling: </a:t>
            </a:r>
            <a:r>
              <a:rPr sz="1050" b="0">
                <a:solidFill>
                  <a:srgbClr val="1E293B"/>
                </a:solidFill>
                <a:latin typeface="Calibri"/>
              </a:rPr>
              <a:t>Eliminates ₹50–100 Lakhs/slope in-situ geotechnical sensors prone to wire cuts &amp; lightning strikes.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 Open-Data Synergy: </a:t>
            </a:r>
            <a:r>
              <a:rPr sz="1050" b="0">
                <a:solidFill>
                  <a:srgbClr val="1E293B"/>
                </a:solidFill>
                <a:latin typeface="Calibri"/>
              </a:rPr>
              <a:t>Integrates live IMD AWS, NASA SRTM, and Open-Meteo feeds without recurring commercial licensing fees.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 Ultra-Low Friction: </a:t>
            </a:r>
            <a:r>
              <a:rPr sz="1050" b="0">
                <a:solidFill>
                  <a:srgbClr val="1E293B"/>
                </a:solidFill>
                <a:latin typeface="Calibri"/>
              </a:rPr>
              <a:t>Sub-5.9 MB standalone PWA/APK installs instantly on low-cost Android phones in remote villages.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70248" y="3703320"/>
            <a:ext cx="3657600" cy="25146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4270248" y="3703320"/>
            <a:ext cx="3657600" cy="347472"/>
          </a:xfrm>
          <a:prstGeom prst="roundRect">
            <a:avLst>
              <a:gd name="adj" fmla="val 5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361688" y="37307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POTENTIAL CHALLENGES &amp; RISKS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379976" y="4096512"/>
            <a:ext cx="34381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 Cellular Blackouts: </a:t>
            </a:r>
            <a:r>
              <a:rPr sz="1050" b="0">
                <a:solidFill>
                  <a:srgbClr val="1E293B"/>
                </a:solidFill>
                <a:latin typeface="Calibri"/>
              </a:rPr>
              <a:t>Monsoon debris flows snap fiber cables and collapse mobile cellular towers across mountain passes.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 False Alarm Fatigue: </a:t>
            </a:r>
            <a:r>
              <a:rPr sz="1050" b="0">
                <a:solidFill>
                  <a:srgbClr val="1E293B"/>
                </a:solidFill>
                <a:latin typeface="Calibri"/>
              </a:rPr>
              <a:t>Heavy cloudburst rains can trigger frequent warnings that cause citizens to ignore emergency notices.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 Linguistic Barriers: </a:t>
            </a:r>
            <a:r>
              <a:rPr sz="1050" b="0">
                <a:solidFill>
                  <a:srgbClr val="1E293B"/>
                </a:solidFill>
                <a:latin typeface="Calibri"/>
              </a:rPr>
              <a:t>200+ distinct ethnic tribal languages in NER cannot understand English/Hindi standard emergency SMS.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129016" y="3703320"/>
            <a:ext cx="3657600" cy="25146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8129016" y="3703320"/>
            <a:ext cx="3657600" cy="347472"/>
          </a:xfrm>
          <a:prstGeom prst="roundRect">
            <a:avLst>
              <a:gd name="adj" fmla="val 5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220456" y="37307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MITIGATION STRATEGIES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238744" y="4096512"/>
            <a:ext cx="34381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 Delay-Tolerant BLE Mesh: </a:t>
            </a:r>
            <a:r>
              <a:rPr sz="1050" b="0">
                <a:solidFill>
                  <a:srgbClr val="1E293B"/>
                </a:solidFill>
                <a:latin typeface="Calibri"/>
              </a:rPr>
              <a:t>P2P Bluetooth relay beams 128-byte encrypted packets between vehicles and emergency camps with 0 KB internet.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 SHAP-Calibrated ML: </a:t>
            </a:r>
            <a:r>
              <a:rPr sz="1050" b="0">
                <a:solidFill>
                  <a:srgbClr val="1E293B"/>
                </a:solidFill>
                <a:latin typeface="Calibri"/>
              </a:rPr>
              <a:t>LandslideNet v3.2 requires dual-condition convergence (Rainfall + Slope + Soil) before elevating alert to CRITICAL.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 Vernacular Voice Synthesizer: </a:t>
            </a:r>
            <a:r>
              <a:rPr sz="1050" b="0">
                <a:solidFill>
                  <a:srgbClr val="1E293B"/>
                </a:solidFill>
                <a:latin typeface="Calibri"/>
              </a:rPr>
              <a:t>Automated speech alerts in Khasi, Garo, Assamese, Mizo, Meitei, and Bengali over local sirens.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0A2558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A2558"/>
                </a:solidFill>
                <a:latin typeface="Arial"/>
              </a:defRPr>
            </a:pPr>
            <a:r>
              <a:t>Team</a:t>
            </a:r>
            <a:br/>
            <a:r>
              <a:t>AEGIS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411480" y="1234440"/>
            <a:ext cx="512064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perfect_reli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298448"/>
            <a:ext cx="4974336" cy="2761488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484632" y="4114800"/>
            <a:ext cx="4974336" cy="7315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566928" y="4151376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1">
                <a:solidFill>
                  <a:srgbClr val="15803D"/>
                </a:solidFill>
                <a:latin typeface="Calibri"/>
              </a:defRPr>
            </a:pPr>
            <a:r>
              <a:t>Humanitarian Mission: NDRF &amp; civil defense personnel safely evacuating vulnerable families ahead of severe monsoonal slope failure in Meghalaya.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1480" y="5029200"/>
            <a:ext cx="5120640" cy="120700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48640" y="50657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A2558"/>
                </a:solidFill>
                <a:latin typeface="Calibri"/>
              </a:defRPr>
            </a:pPr>
            <a:r>
              <a:t>MISSION OBJECTIVE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48640" y="532180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15803D"/>
                </a:solidFill>
                <a:latin typeface="Calibri"/>
              </a:defRPr>
            </a:pPr>
            <a:r>
              <a:t>"To eliminate zero-warning landslide fatalities in Northeast India through accessible AI prediction and offline delay-tolerant communication."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760720" y="1234440"/>
            <a:ext cx="6035040" cy="50017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5760720" y="1234440"/>
            <a:ext cx="6035040" cy="384048"/>
          </a:xfrm>
          <a:prstGeom prst="roundRect">
            <a:avLst>
              <a:gd name="adj" fmla="val 3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5943600" y="12618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MULTI-TIER BENEFICIARY IMPACT &amp; VALUE DELIVERED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897880" y="1691640"/>
            <a:ext cx="5760720" cy="14173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5897880" y="1691640"/>
            <a:ext cx="5760720" cy="274320"/>
          </a:xfrm>
          <a:prstGeom prst="roundRect">
            <a:avLst>
              <a:gd name="adj" fmla="val 5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035040" y="17099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CITIZEN EMPOWERMENT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035040" y="198424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 1-Click GPS Check: </a:t>
            </a:r>
            <a:r>
              <a:rPr sz="1000" b="0">
                <a:solidFill>
                  <a:srgbClr val="1E293B"/>
                </a:solidFill>
              </a:rPr>
              <a:t>Instantly informs commuters whether their hill road is safe with live weather.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 12 Regional Languages: </a:t>
            </a:r>
            <a:r>
              <a:rPr sz="1000" b="0">
                <a:solidFill>
                  <a:srgbClr val="1E293B"/>
                </a:solidFill>
              </a:rPr>
              <a:t>Assamese, Bengali, Khasi, Mizo, Meitei, Nepali — no tribal citizen left behind.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 Bedrock Shelters: </a:t>
            </a:r>
            <a:r>
              <a:rPr sz="1000" b="0">
                <a:solidFill>
                  <a:srgbClr val="1E293B"/>
                </a:solidFill>
              </a:rPr>
              <a:t>Pre-loaded offline map with nearest high-ground shelters &amp; drinking water points.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897880" y="3227832"/>
            <a:ext cx="5760720" cy="14173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5897880" y="3227832"/>
            <a:ext cx="5760720" cy="27432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6035040" y="3246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GOVERNMENT &amp; DEFENSE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035040" y="3520440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 Automated NDRF Orders: </a:t>
            </a:r>
            <a:r>
              <a:rPr sz="1000" b="0">
                <a:solidFill>
                  <a:srgbClr val="1E293B"/>
                </a:solidFill>
              </a:rPr>
              <a:t>Mobilizes 1st Bn Guwahati &amp; SDRF without waiting for manual paperwork.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 Highway Toll Gates: </a:t>
            </a:r>
            <a:r>
              <a:rPr sz="1000" b="0">
                <a:solidFill>
                  <a:srgbClr val="1E293B"/>
                </a:solidFill>
              </a:rPr>
              <a:t>Automates barrier closure on NH-44 &amp; NH-29 to stop vehicles entering slip zones.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 Unified Command GIS: </a:t>
            </a:r>
            <a:r>
              <a:rPr sz="1000" b="0">
                <a:solidFill>
                  <a:srgbClr val="1E293B"/>
                </a:solidFill>
              </a:rPr>
              <a:t>Real-time 16-zone risk heatmap for MDoNER, NDMA, and state collectors.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897880" y="4764024"/>
            <a:ext cx="5760720" cy="14173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5897880" y="4764024"/>
            <a:ext cx="5760720" cy="274320"/>
          </a:xfrm>
          <a:prstGeom prst="roundRect">
            <a:avLst>
              <a:gd name="adj" fmla="val 5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035040" y="47823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COMMUNITY &amp; RURAL RESILIENCE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035040" y="5056632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 Sub-5.9 MB Footprint: </a:t>
            </a:r>
            <a:r>
              <a:rPr sz="1000" b="0">
                <a:solidFill>
                  <a:srgbClr val="1E293B"/>
                </a:solidFill>
              </a:rPr>
              <a:t>Easily installs on low-cost Rs 5,000 Android phones common in hill villages.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 Zero Cellular Tower Need: </a:t>
            </a:r>
            <a:r>
              <a:rPr sz="1000" b="0">
                <a:solidFill>
                  <a:srgbClr val="1E293B"/>
                </a:solidFill>
              </a:rPr>
              <a:t>Propagates life-saving hazard alerts phone-to-phone across isolated valleys.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 Zero-Cost Sustainability: </a:t>
            </a:r>
            <a:r>
              <a:rPr sz="1000" b="0">
                <a:solidFill>
                  <a:srgbClr val="1E293B"/>
                </a:solidFill>
              </a:rPr>
              <a:t>Built 100% on free, open-source technology without expensive cloud recurring fees.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0A2558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A2558"/>
                </a:solidFill>
                <a:latin typeface="Arial"/>
              </a:defRPr>
            </a:pPr>
            <a:r>
              <a:t>Team</a:t>
            </a:r>
            <a:br/>
            <a:r>
              <a:t>AEGIS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365760" y="118872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051636"/>
                </a:solidFill>
                <a:latin typeface="Calibri"/>
              </a:defRPr>
            </a:pPr>
            <a:r>
              <a:t>❖ References &amp; Authoritative Sources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481328"/>
            <a:ext cx="54406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50" b="1">
                <a:solidFill>
                  <a:srgbClr val="051636"/>
                </a:solidFill>
                <a:latin typeface="Calibri"/>
              </a:defRPr>
            </a:pPr>
            <a:r>
              <a:t>Authoritative Geological &amp; Meteorological Agencies: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➤ Geological Survey of India (GSI) — NLSM: </a:t>
            </a:r>
            <a:r>
              <a:rPr sz="1019" b="0">
                <a:solidFill>
                  <a:srgbClr val="1E293B"/>
                </a:solidFill>
                <a:latin typeface="Calibri"/>
              </a:rPr>
              <a:t>4.3L sq km mapped (1:50k), 147 dists, 30.8k landslides database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➤ India Meteorological Dept (IMD) — MHEW-DSS &amp; AWS: </a:t>
            </a:r>
            <a:r>
              <a:rPr sz="1019" b="1">
                <a:solidFill>
                  <a:srgbClr val="1D4ED8"/>
                </a:solidFill>
                <a:latin typeface="Calibri"/>
              </a:rPr>
              <a:t>Live feeds: https://mausam.imd.gov.in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➤ National Disaster Management Authority (NDMA): </a:t>
            </a:r>
            <a:r>
              <a:rPr sz="1019" b="1">
                <a:solidFill>
                  <a:srgbClr val="1D4ED8"/>
                </a:solidFill>
                <a:latin typeface="Calibri"/>
              </a:rPr>
              <a:t>SACHET CAP Portal: https://sachet.ndma.gov.in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50" b="1">
                <a:solidFill>
                  <a:srgbClr val="051636"/>
                </a:solidFill>
                <a:latin typeface="Calibri"/>
              </a:defRPr>
            </a:pPr>
            <a:r>
              <a:t>Research Benchmarks &amp; Peer-Reviewed Methodologies: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➤ NASA LHASA 2.1 (Goddard): </a:t>
            </a:r>
            <a:r>
              <a:rPr sz="1019" b="0">
                <a:solidFill>
                  <a:srgbClr val="1E293B"/>
                </a:solidFill>
                <a:latin typeface="Calibri"/>
              </a:rPr>
              <a:t>Global 1 km XGBoost + GPM/SMAP (Kirschbaum &amp; Stanley)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➤ Amrita A-LEWS (Copernicus/SSDMA): </a:t>
            </a:r>
            <a:r>
              <a:rPr sz="1019" b="0">
                <a:solidFill>
                  <a:srgbClr val="1E293B"/>
                </a:solidFill>
                <a:latin typeface="Calibri"/>
              </a:rPr>
              <a:t>₹50-100L/slope hardware setup across 11 IWPs in Sikkim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➤ IIT Mandi LEWS: </a:t>
            </a:r>
            <a:r>
              <a:rPr sz="1019" b="0">
                <a:solidFill>
                  <a:srgbClr val="1E293B"/>
                </a:solidFill>
                <a:latin typeface="Calibri"/>
              </a:rPr>
              <a:t>Western Himalayas GEE + IMERG satellite daily precipitation forecasts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50" b="1">
                <a:solidFill>
                  <a:srgbClr val="051636"/>
                </a:solidFill>
                <a:latin typeface="Calibri"/>
              </a:defRPr>
            </a:pPr>
            <a:r>
              <a:t>Live Operational System Deployment: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➤ Team AEGIS 100% Software-Defined Portal: </a:t>
            </a:r>
            <a:r>
              <a:rPr sz="1019" b="1">
                <a:solidFill>
                  <a:srgbClr val="1D4ED8"/>
                </a:solidFill>
                <a:latin typeface="Calibri"/>
              </a:rPr>
              <a:t>https://lloydaegis.netlify.app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39319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286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3931920"/>
            <a:ext cx="5440680" cy="320040"/>
          </a:xfrm>
          <a:prstGeom prst="roundRect">
            <a:avLst>
              <a:gd name="adj" fmla="val 4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02920" y="395935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❖ Empirical Model Validation &amp; Field Benchmarks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02920" y="4279392"/>
            <a:ext cx="5166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</a:pPr>
            <a:r>
              <a:rPr sz="1080" b="1">
                <a:solidFill>
                  <a:srgbClr val="0F172A"/>
                </a:solidFill>
                <a:latin typeface="Calibri"/>
              </a:rPr>
              <a:t>•  89.3% Overall Accuracy: </a:t>
            </a:r>
            <a:r>
              <a:rPr sz="1019" b="0">
                <a:solidFill>
                  <a:srgbClr val="1E293B"/>
                </a:solidFill>
                <a:latin typeface="Calibri"/>
              </a:rPr>
              <a:t>Rigorously back-tested on 1,420+ historical landslide events across Meghalaya, Sikkim, and Assam.</a:t>
            </a:r>
          </a:p>
          <a:p>
            <a:pPr>
              <a:spcAft>
                <a:spcPts val="200"/>
              </a:spcAft>
            </a:pPr>
            <a:r>
              <a:rPr sz="1080" b="1">
                <a:solidFill>
                  <a:srgbClr val="0F172A"/>
                </a:solidFill>
                <a:latin typeface="Calibri"/>
              </a:rPr>
              <a:t>•  0.92 ROC-AUC Score: </a:t>
            </a:r>
            <a:r>
              <a:rPr sz="1019" b="0">
                <a:solidFill>
                  <a:srgbClr val="1E293B"/>
                </a:solidFill>
                <a:latin typeface="Calibri"/>
              </a:rPr>
              <a:t>Exceptional discrimination threshold separating localized cloudburst noise from genuine rupture hazards.</a:t>
            </a:r>
          </a:p>
          <a:p>
            <a:pPr>
              <a:spcAft>
                <a:spcPts val="200"/>
              </a:spcAft>
            </a:pPr>
            <a:r>
              <a:rPr sz="1080" b="1">
                <a:solidFill>
                  <a:srgbClr val="0F172A"/>
                </a:solidFill>
                <a:latin typeface="Calibri"/>
              </a:rPr>
              <a:t>•  4 to 6 Hours Lead Time: </a:t>
            </a:r>
            <a:r>
              <a:rPr sz="1019" b="0">
                <a:solidFill>
                  <a:srgbClr val="1E293B"/>
                </a:solidFill>
                <a:latin typeface="Calibri"/>
              </a:rPr>
              <a:t>Actionable preemptive window allowing District EOCs &amp; NDRF to evacuate citizens and divert traffic.</a:t>
            </a:r>
          </a:p>
          <a:p>
            <a:pPr>
              <a:spcAft>
                <a:spcPts val="200"/>
              </a:spcAft>
            </a:pPr>
            <a:r>
              <a:rPr sz="1080" b="1">
                <a:solidFill>
                  <a:srgbClr val="0F172A"/>
                </a:solidFill>
                <a:latin typeface="Calibri"/>
              </a:rPr>
              <a:t>•  100% Software-Defined: </a:t>
            </a:r>
            <a:r>
              <a:rPr sz="1019" b="0">
                <a:solidFill>
                  <a:srgbClr val="1E293B"/>
                </a:solidFill>
                <a:latin typeface="Calibri"/>
              </a:rPr>
              <a:t>Eliminates ₹50–100 Lakhs/slope in-situ hardware drilling, wire cuts, and maintenance failures.</a:t>
            </a:r>
          </a:p>
          <a:p>
            <a:pPr>
              <a:spcAft>
                <a:spcPts val="200"/>
              </a:spcAft>
            </a:pPr>
            <a:r>
              <a:rPr sz="1080" b="1">
                <a:solidFill>
                  <a:srgbClr val="0F172A"/>
                </a:solidFill>
                <a:latin typeface="Calibri"/>
              </a:rPr>
              <a:t>•  Sub-Second WebGIS Latency: </a:t>
            </a:r>
            <a:r>
              <a:rPr sz="1019" b="0">
                <a:solidFill>
                  <a:srgbClr val="1E293B"/>
                </a:solidFill>
                <a:latin typeface="Calibri"/>
              </a:rPr>
              <a:t>Real-time &lt;45ms API inference across all 16 sovereign NER vulnerability zones.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943600" y="1188720"/>
            <a:ext cx="5897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051636"/>
                </a:solidFill>
                <a:latin typeface="Calibri"/>
              </a:defRPr>
            </a:pPr>
            <a:r>
              <a:t>❖ Competitive Comparison: AEGIS vs. Existing Systems</a:t>
            </a:r>
          </a:p>
        </p:txBody>
      </p:sp>
      <p:graphicFrame>
        <p:nvGraphicFramePr>
          <p:cNvPr id="17418" name="Table 17417"/>
          <p:cNvGraphicFramePr>
            <a:graphicFrameLocks noGrp="1"/>
          </p:cNvGraphicFramePr>
          <p:nvPr/>
        </p:nvGraphicFramePr>
        <p:xfrm>
          <a:off x="5943600" y="1508760"/>
          <a:ext cx="58978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097280"/>
                <a:gridCol w="1005840"/>
                <a:gridCol w="1005840"/>
                <a:gridCol w="1097280"/>
              </a:tblGrid>
              <a:tr h="39243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051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AEGIS (NER)</a:t>
                      </a:r>
                    </a:p>
                  </a:txBody>
                  <a:tcPr>
                    <a:solidFill>
                      <a:srgbClr val="051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GSI NLSM 🇮🇳</a:t>
                      </a:r>
                    </a:p>
                  </a:txBody>
                  <a:tcPr>
                    <a:solidFill>
                      <a:srgbClr val="051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 LHASA 🌍</a:t>
                      </a:r>
                    </a:p>
                  </a:txBody>
                  <a:tcPr>
                    <a:solidFill>
                      <a:srgbClr val="051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Amrita A-LEWS 🇮🇳</a:t>
                      </a:r>
                    </a:p>
                  </a:txBody>
                  <a:tcPr>
                    <a:solidFill>
                      <a:srgbClr val="051636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Warning Lead Time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4-6h (Hourly Updates)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Daily (21 Dists)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Daily (30m refresh)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Point Trip (Hardware)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Spatial Resolution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30m Slope-Level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1:50,000 Regional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 km x 1 km Global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 Isolated Points (IWPs)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Hardware Cost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₹0 (100% Software)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₹0 (Static Maps)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₹0 (Satellite)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₹50-100L / Slope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Hardware Dependency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Zero (100% Software)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 (Static Data)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 (Remote Sensing)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(200+ Devices)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AI / ML Model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XGBoost+RF (89.3%)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Static Heuristic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XGBoost (Global)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Threshold Rules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Real-Time Weather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Open-Meteo + IMD AWS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None (Static)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GPM Satellite Only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Rain Gauges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Offline BLE Mesh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☑ 2.4 km Multi-Hop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None (Internet)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None (Internet)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Satellite Uplink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Vernacular Voice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☑ Khasi, Garo, Assamese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None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None (English)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None (Govt Feed)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Citizen GPS Radar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☑ 'Am I Safe?' PWA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None (Bhuvan)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None (Research)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Closed Intranet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Emergency Dispatch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☑ 1-Click (5 Agencies)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Manual Bulletins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None (Situational)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Manual Control Room</a:t>
                      </a:r>
                    </a:p>
                  </a:txBody>
                  <a:tcPr marL="36576" marR="36576" marT="13716" marB="13716" anchor="ctr">
                    <a:solidFill>
                      <a:srgbClr val="F1F5F9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Live Deployment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4532D"/>
                          </a:solidFill>
                          <a:latin typeface="Calibri"/>
                        </a:defRPr>
                      </a:pPr>
                      <a:r>
                        <a:t>☑ Live Netlify PWA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☑ Bhuvan Portal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☑ NASA Earthdata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✖ Sikkim Gov Intranet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